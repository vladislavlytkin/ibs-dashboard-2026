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71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5266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RP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37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5216" y="676656"/>
            <a:ext cx="960120" cy="64008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1664208"/>
            <a:ext cx="73152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Arial"/>
              </a:rPr>
              <a:t>Школьный аналитический</a:t>
            </a:r>
          </a:p>
          <a:p>
            <a:r>
              <a:rPr sz="3400" b="1">
                <a:solidFill>
                  <a:srgbClr val="FFFFFF"/>
                </a:solidFill>
                <a:latin typeface="Arial"/>
              </a:rPr>
              <a:t>дашборд IBS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3127248"/>
            <a:ext cx="60350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0">
                <a:solidFill>
                  <a:srgbClr val="D2E1F0"/>
                </a:solidFill>
                <a:latin typeface="Arial"/>
              </a:rPr>
              <a:t>Прототип управленческой аналитической платформы для школ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355080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>
                <a:solidFill>
                  <a:srgbClr val="BECDDE"/>
                </a:solidFill>
                <a:latin typeface="Arial"/>
              </a:rPr>
              <a:t>18.06.2026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29184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2F80ED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85216" y="62179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250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Управленческая проблема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899648" y="393192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>
                <a:latin typeface="Arial"/>
              </a:rPr>
              <a:t>02</a:t>
            </a:r>
          </a:p>
        </p:txBody>
      </p:sp>
      <p:sp>
        <p:nvSpPr>
          <p:cNvPr id="5" name="Shape 3"/>
          <p:cNvSpPr/>
          <p:nvPr/>
        </p:nvSpPr>
        <p:spPr>
          <a:xfrm>
            <a:off x="585216" y="1298448"/>
            <a:ext cx="11027664" cy="0"/>
          </a:xfrm>
          <a:prstGeom prst="line">
            <a:avLst/>
          </a:prstGeom>
          <a:noFill/>
          <a:ln w="8890">
            <a:solidFill>
              <a:srgbClr val="D7DE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85216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IBS — School Analytics Dashboard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301984" y="643737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r>
              <a:rPr>
                <a:latin typeface="Arial"/>
              </a:rPr>
              <a:t>02</a:t>
            </a:r>
          </a:p>
        </p:txBody>
      </p:sp>
      <p:sp>
        <p:nvSpPr>
          <p:cNvPr id="8" name="Shape 6"/>
          <p:cNvSpPr/>
          <p:nvPr/>
        </p:nvSpPr>
        <p:spPr>
          <a:xfrm>
            <a:off x="585216" y="6336792"/>
            <a:ext cx="11027664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49808" y="157276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20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Данные школы существуют, но не складываются в оперативную управленческую картину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49808" y="2514600"/>
            <a:ext cx="2240280" cy="393192"/>
          </a:xfrm>
          <a:prstGeom prst="roundRect">
            <a:avLst/>
          </a:prstGeom>
          <a:solidFill>
            <a:srgbClr val="F3F5F7"/>
          </a:solidFill>
          <a:ln w="8255">
            <a:solidFill>
              <a:srgbClr val="E5EA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749808" y="2514600"/>
            <a:ext cx="41148" cy="393192"/>
          </a:xfrm>
          <a:prstGeom prst="rect">
            <a:avLst/>
          </a:prstGeom>
          <a:solidFill>
            <a:srgbClr val="2F80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950976" y="2697480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Оценки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749808" y="3081528"/>
            <a:ext cx="2240280" cy="393192"/>
          </a:xfrm>
          <a:prstGeom prst="roundRect">
            <a:avLst/>
          </a:prstGeom>
          <a:solidFill>
            <a:srgbClr val="F3F5F7"/>
          </a:solidFill>
          <a:ln w="8255">
            <a:solidFill>
              <a:srgbClr val="E5EA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749808" y="3081528"/>
            <a:ext cx="41148" cy="393192"/>
          </a:xfrm>
          <a:prstGeom prst="rect">
            <a:avLst/>
          </a:prstGeom>
          <a:solidFill>
            <a:srgbClr val="2F80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950976" y="3264408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Посещаемость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749808" y="3648456"/>
            <a:ext cx="2240280" cy="393192"/>
          </a:xfrm>
          <a:prstGeom prst="roundRect">
            <a:avLst/>
          </a:prstGeom>
          <a:solidFill>
            <a:srgbClr val="F3F5F7"/>
          </a:solidFill>
          <a:ln w="8255">
            <a:solidFill>
              <a:srgbClr val="E5EA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749808" y="3648456"/>
            <a:ext cx="41148" cy="393192"/>
          </a:xfrm>
          <a:prstGeom prst="rect">
            <a:avLst/>
          </a:prstGeom>
          <a:solidFill>
            <a:srgbClr val="2F80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950976" y="3831336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Олимпиады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749808" y="4215384"/>
            <a:ext cx="2240280" cy="393192"/>
          </a:xfrm>
          <a:prstGeom prst="roundRect">
            <a:avLst/>
          </a:prstGeom>
          <a:solidFill>
            <a:srgbClr val="F3F5F7"/>
          </a:solidFill>
          <a:ln w="8255">
            <a:solidFill>
              <a:srgbClr val="E5EA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749808" y="4215384"/>
            <a:ext cx="41148" cy="393192"/>
          </a:xfrm>
          <a:prstGeom prst="rect">
            <a:avLst/>
          </a:prstGeom>
          <a:solidFill>
            <a:srgbClr val="2F80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950976" y="4398264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Активность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749808" y="4782312"/>
            <a:ext cx="2240280" cy="393192"/>
          </a:xfrm>
          <a:prstGeom prst="roundRect">
            <a:avLst/>
          </a:prstGeom>
          <a:solidFill>
            <a:srgbClr val="F3F5F7"/>
          </a:solidFill>
          <a:ln w="8255">
            <a:solidFill>
              <a:srgbClr val="E5EA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749808" y="4782312"/>
            <a:ext cx="41148" cy="393192"/>
          </a:xfrm>
          <a:prstGeom prst="rect">
            <a:avLst/>
          </a:prstGeom>
          <a:solidFill>
            <a:srgbClr val="2F80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950976" y="4965192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Риски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3246120" y="2606040"/>
            <a:ext cx="502920" cy="2423160"/>
          </a:xfrm>
          <a:prstGeom prst="bracePair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3977640" y="3511296"/>
            <a:ext cx="475488" cy="274320"/>
          </a:xfrm>
          <a:prstGeom prst="chevron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4663440" y="2304288"/>
            <a:ext cx="2926080" cy="2487168"/>
          </a:xfrm>
          <a:prstGeom prst="roundRect">
            <a:avLst>
              <a:gd name="adj" fmla="val 0"/>
            </a:avLst>
          </a:prstGeom>
          <a:solidFill>
            <a:srgbClr val="F8FAFC"/>
          </a:solidFill>
          <a:ln w="8255">
            <a:solidFill>
              <a:srgbClr val="D7DEE8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4663440" y="2304288"/>
            <a:ext cx="41148" cy="2487168"/>
          </a:xfrm>
          <a:prstGeom prst="rect">
            <a:avLst/>
          </a:prstGeom>
          <a:solidFill>
            <a:srgbClr val="2F80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4864608" y="2487168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Разрыв между данными и решением</a:t>
            </a:r>
            <a:endParaRPr lang="en-US" sz="1220" dirty="0"/>
          </a:p>
        </p:txBody>
      </p:sp>
      <p:sp>
        <p:nvSpPr>
          <p:cNvPr id="30" name="Text 28"/>
          <p:cNvSpPr/>
          <p:nvPr/>
        </p:nvSpPr>
        <p:spPr>
          <a:xfrm>
            <a:off x="4864608" y="2816352"/>
            <a:ext cx="25420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Руководителю нужно видеть не отдельные таблицы, а приоритеты: где ухудшение, где риск, где требуется управленческое действие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7827264" y="3511296"/>
            <a:ext cx="475488" cy="274320"/>
          </a:xfrm>
          <a:prstGeom prst="chevron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8549640" y="2304288"/>
            <a:ext cx="2697480" cy="2487168"/>
          </a:xfrm>
          <a:prstGeom prst="roundRect">
            <a:avLst>
              <a:gd name="adj" fmla="val 0"/>
            </a:avLst>
          </a:prstGeom>
          <a:solidFill>
            <a:srgbClr val="FFF7F7"/>
          </a:solidFill>
          <a:ln w="8255">
            <a:solidFill>
              <a:srgbClr val="F3D0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8549640" y="2304288"/>
            <a:ext cx="41148" cy="2487168"/>
          </a:xfrm>
          <a:prstGeom prst="rect">
            <a:avLst/>
          </a:prstGeom>
          <a:solidFill>
            <a:srgbClr val="D64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8750808" y="2487168"/>
            <a:ext cx="2313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Цена задержки</a:t>
            </a:r>
            <a:endParaRPr lang="en-US" sz="1220" dirty="0"/>
          </a:p>
        </p:txBody>
      </p:sp>
      <p:sp>
        <p:nvSpPr>
          <p:cNvPr id="35" name="Text 33"/>
          <p:cNvSpPr/>
          <p:nvPr/>
        </p:nvSpPr>
        <p:spPr>
          <a:xfrm>
            <a:off x="8750808" y="2816352"/>
            <a:ext cx="23134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Решения часто принимаются постфактум: проблема уже стала заметной, но ранние сигналы были потеряны в разрозненных источниках</a:t>
            </a:r>
            <a:endParaRPr lang="en-US" sz="9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5216" y="329184"/>
            <a:ext cx="32004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1">
                <a:solidFill>
                  <a:srgbClr val="2F80ED"/>
                </a:solidFill>
                <a:latin typeface="Arial"/>
              </a:rPr>
              <a:t>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603504"/>
            <a:ext cx="886968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>
                <a:solidFill>
                  <a:srgbClr val="073763"/>
                </a:solidFill>
                <a:latin typeface="Arial"/>
              </a:rPr>
              <a:t>Ключевая потребность администрации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99648" y="393192"/>
            <a:ext cx="7315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>
                <a:latin typeface="Arial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07592"/>
            <a:ext cx="11018520" cy="9144"/>
          </a:xfrm>
          <a:prstGeom prst="rect">
            <a:avLst/>
          </a:prstGeom>
          <a:solidFill>
            <a:srgbClr val="D8E2ED"/>
          </a:solidFill>
          <a:ln w="12700"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85216" y="6492240"/>
            <a:ext cx="41148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0">
                <a:solidFill>
                  <a:srgbClr val="6B7280"/>
                </a:solidFill>
                <a:latin typeface="Arial"/>
              </a:rPr>
              <a:t>IBS / School Analytics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37376"/>
            <a:ext cx="3200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>
                <a:latin typeface="Arial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1645920"/>
            <a:ext cx="1060704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073763"/>
                </a:solidFill>
                <a:latin typeface="Arial"/>
              </a:rPr>
              <a:t>Запрос от администрации — единый аналитический контур, который показывает состояние школы, причины отклонений и зоны управленческого внимания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2487168"/>
            <a:ext cx="3063240" cy="841248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2633472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73763"/>
                </a:solidFill>
                <a:latin typeface="Arial"/>
              </a:rPr>
              <a:t>Рейтинг классов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92608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19" b="0">
                <a:solidFill>
                  <a:srgbClr val="6B7280"/>
                </a:solidFill>
                <a:latin typeface="Arial"/>
              </a:rPr>
              <a:t>единая шкала 0–100 и динамика за период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6" y="2487168"/>
            <a:ext cx="3063240" cy="841248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5424" y="2633472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73763"/>
                </a:solidFill>
                <a:latin typeface="Arial"/>
              </a:rPr>
              <a:t>Оценки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292608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19" b="0">
                <a:solidFill>
                  <a:srgbClr val="6B7280"/>
                </a:solidFill>
                <a:latin typeface="Arial"/>
              </a:rPr>
              <a:t>переход от общей картины к предметам и ученикам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82127" y="2487168"/>
            <a:ext cx="3063240" cy="841248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83296" y="2633472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73763"/>
                </a:solidFill>
                <a:latin typeface="Arial"/>
              </a:rPr>
              <a:t>Посещаемость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292608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19" b="0">
                <a:solidFill>
                  <a:srgbClr val="6B7280"/>
                </a:solidFill>
                <a:latin typeface="Arial"/>
              </a:rPr>
              <a:t>контроль пропусков и изменения регулярности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" y="3721608"/>
            <a:ext cx="3063240" cy="841248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7552" y="3867912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73763"/>
                </a:solidFill>
                <a:latin typeface="Arial"/>
              </a:rPr>
              <a:t>Олимпиады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416052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19" b="0">
                <a:solidFill>
                  <a:srgbClr val="6B7280"/>
                </a:solidFill>
                <a:latin typeface="Arial"/>
              </a:rPr>
              <a:t>учёт активности и достижений учеников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34256" y="3721608"/>
            <a:ext cx="3063240" cy="841248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35424" y="3867912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73763"/>
                </a:solidFill>
                <a:latin typeface="Arial"/>
              </a:rPr>
              <a:t>Риски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35424" y="416052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19" b="0">
                <a:solidFill>
                  <a:srgbClr val="6B7280"/>
                </a:solidFill>
                <a:latin typeface="Arial"/>
              </a:rPr>
              <a:t>ранний сигнал внимания для ученика или класса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82127" y="3721608"/>
            <a:ext cx="3063240" cy="841248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83296" y="3867912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73763"/>
                </a:solidFill>
                <a:latin typeface="Arial"/>
              </a:rPr>
              <a:t>Ролевой доступ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83296" y="416052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19" b="0">
                <a:solidFill>
                  <a:srgbClr val="6B7280"/>
                </a:solidFill>
                <a:latin typeface="Arial"/>
              </a:rPr>
              <a:t>пользователи получают доступ согласно ролевой модели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983480"/>
            <a:ext cx="101498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073763"/>
                </a:solidFill>
                <a:latin typeface="Arial"/>
              </a:rPr>
              <a:t>Итоговый продукт должен помогать не просто смотреть данные, а принимать управленческие решения раньше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29184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2F80ED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OBJECTIVE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85216" y="62179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250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Цель проекта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899648" y="393192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>
                <a:latin typeface="Arial"/>
              </a:rPr>
              <a:t>04</a:t>
            </a:r>
          </a:p>
        </p:txBody>
      </p:sp>
      <p:sp>
        <p:nvSpPr>
          <p:cNvPr id="5" name="Shape 3"/>
          <p:cNvSpPr/>
          <p:nvPr/>
        </p:nvSpPr>
        <p:spPr>
          <a:xfrm>
            <a:off x="585216" y="1298448"/>
            <a:ext cx="11027664" cy="0"/>
          </a:xfrm>
          <a:prstGeom prst="line">
            <a:avLst/>
          </a:prstGeom>
          <a:noFill/>
          <a:ln w="8890">
            <a:solidFill>
              <a:srgbClr val="D7DE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85216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IBS — School Analytics Dashboard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301984" y="643737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r>
              <a:rPr>
                <a:latin typeface="Arial"/>
              </a:rPr>
              <a:t>04</a:t>
            </a:r>
          </a:p>
        </p:txBody>
      </p:sp>
      <p:sp>
        <p:nvSpPr>
          <p:cNvPr id="8" name="Shape 6"/>
          <p:cNvSpPr/>
          <p:nvPr/>
        </p:nvSpPr>
        <p:spPr>
          <a:xfrm>
            <a:off x="585216" y="6336792"/>
            <a:ext cx="11027664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352544" y="1874520"/>
            <a:ext cx="3429000" cy="3429000"/>
          </a:xfrm>
          <a:prstGeom prst="ellipse">
            <a:avLst/>
          </a:prstGeom>
          <a:solidFill>
            <a:srgbClr val="073763"/>
          </a:solidFill>
          <a:ln w="12700">
            <a:solidFill>
              <a:srgbClr val="07376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809744" y="3054096"/>
            <a:ext cx="2514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Единое</a:t>
            </a:r>
            <a:endParaRPr lang="en-US" sz="2800" dirty="0"/>
          </a:p>
          <a:p>
            <a:pPr marL="0" indent="0" algn="ctr">
              <a:lnSpc>
                <a:spcPct val="8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окно</a:t>
            </a:r>
            <a:endParaRPr lang="en-US" sz="2800" dirty="0"/>
          </a:p>
          <a:p>
            <a:pPr marL="0" indent="0" algn="ctr">
              <a:lnSpc>
                <a:spcPct val="8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управления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76656" y="1755648"/>
            <a:ext cx="2788920" cy="73152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76656" y="1755648"/>
            <a:ext cx="41148" cy="731520"/>
          </a:xfrm>
          <a:prstGeom prst="rect">
            <a:avLst/>
          </a:prstGeom>
          <a:solidFill>
            <a:srgbClr val="0B4F9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77824" y="1938528"/>
            <a:ext cx="2404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Рейтинг классов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877824" y="2267712"/>
            <a:ext cx="24048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единая шкала состояния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3465575" y="2121407"/>
            <a:ext cx="1571937" cy="9143"/>
          </a:xfrm>
          <a:prstGeom prst="line">
            <a:avLst/>
          </a:prstGeom>
          <a:noFill/>
          <a:ln w="8890">
            <a:solidFill>
              <a:srgbClr val="D7DE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8549640" y="1755648"/>
            <a:ext cx="2788920" cy="731520"/>
          </a:xfrm>
          <a:prstGeom prst="roundRect">
            <a:avLst>
              <a:gd name="adj" fmla="val 0"/>
            </a:avLst>
          </a:prstGeom>
          <a:solidFill>
            <a:srgbClr val="F6FAFF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8549640" y="1755648"/>
            <a:ext cx="41148" cy="731520"/>
          </a:xfrm>
          <a:prstGeom prst="rect">
            <a:avLst/>
          </a:prstGeom>
          <a:solidFill>
            <a:srgbClr val="2F80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8750808" y="1938528"/>
            <a:ext cx="2404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Динамика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8750808" y="2267712"/>
            <a:ext cx="24048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изменения за период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8549640" y="2121408"/>
            <a:ext cx="0" cy="0"/>
          </a:xfrm>
          <a:prstGeom prst="line">
            <a:avLst/>
          </a:prstGeom>
          <a:noFill/>
          <a:ln w="8890">
            <a:solidFill>
              <a:srgbClr val="D7DE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676656" y="3127248"/>
            <a:ext cx="2788920" cy="73152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676656" y="3127248"/>
            <a:ext cx="41148" cy="731520"/>
          </a:xfrm>
          <a:prstGeom prst="rect">
            <a:avLst/>
          </a:prstGeom>
          <a:solidFill>
            <a:srgbClr val="0B4F9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877824" y="3310128"/>
            <a:ext cx="2404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Риск-сигналы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877824" y="3639312"/>
            <a:ext cx="24048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раннее внимание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3465576" y="3493008"/>
            <a:ext cx="850392" cy="0"/>
          </a:xfrm>
          <a:prstGeom prst="line">
            <a:avLst/>
          </a:prstGeom>
          <a:noFill/>
          <a:ln w="8890">
            <a:solidFill>
              <a:srgbClr val="D7DE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8549640" y="3127248"/>
            <a:ext cx="2788920" cy="731520"/>
          </a:xfrm>
          <a:prstGeom prst="roundRect">
            <a:avLst>
              <a:gd name="adj" fmla="val 0"/>
            </a:avLst>
          </a:prstGeom>
          <a:solidFill>
            <a:srgbClr val="F6FAFF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8549640" y="3127248"/>
            <a:ext cx="41148" cy="731520"/>
          </a:xfrm>
          <a:prstGeom prst="rect">
            <a:avLst/>
          </a:prstGeom>
          <a:solidFill>
            <a:srgbClr val="2F80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8750808" y="3310128"/>
            <a:ext cx="2404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Детализация</a:t>
            </a:r>
            <a:endParaRPr lang="en-US" sz="1220" dirty="0"/>
          </a:p>
        </p:txBody>
      </p:sp>
      <p:sp>
        <p:nvSpPr>
          <p:cNvPr id="29" name="Text 27"/>
          <p:cNvSpPr/>
          <p:nvPr/>
        </p:nvSpPr>
        <p:spPr>
          <a:xfrm>
            <a:off x="8750808" y="3639312"/>
            <a:ext cx="24048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переход к причинам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8549640" y="3493008"/>
            <a:ext cx="0" cy="0"/>
          </a:xfrm>
          <a:prstGeom prst="line">
            <a:avLst/>
          </a:prstGeom>
          <a:noFill/>
          <a:ln w="8890">
            <a:solidFill>
              <a:srgbClr val="D7DE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676656" y="4498848"/>
            <a:ext cx="2788920" cy="73152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676656" y="4498848"/>
            <a:ext cx="41148" cy="731520"/>
          </a:xfrm>
          <a:prstGeom prst="rect">
            <a:avLst/>
          </a:prstGeom>
          <a:solidFill>
            <a:srgbClr val="0B4F9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877824" y="4681728"/>
            <a:ext cx="2404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Отчёты</a:t>
            </a:r>
            <a:endParaRPr lang="en-US" sz="1220" dirty="0"/>
          </a:p>
        </p:txBody>
      </p:sp>
      <p:sp>
        <p:nvSpPr>
          <p:cNvPr id="34" name="Text 32"/>
          <p:cNvSpPr/>
          <p:nvPr/>
        </p:nvSpPr>
        <p:spPr>
          <a:xfrm>
            <a:off x="877824" y="5010912"/>
            <a:ext cx="24048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выгрузка управленческого слоя</a:t>
            </a:r>
            <a:endParaRPr lang="en-US" sz="930" dirty="0"/>
          </a:p>
        </p:txBody>
      </p:sp>
      <p:sp>
        <p:nvSpPr>
          <p:cNvPr id="35" name="Shape 33"/>
          <p:cNvSpPr/>
          <p:nvPr/>
        </p:nvSpPr>
        <p:spPr>
          <a:xfrm flipV="1">
            <a:off x="3465576" y="4855465"/>
            <a:ext cx="1422308" cy="9143"/>
          </a:xfrm>
          <a:prstGeom prst="line">
            <a:avLst/>
          </a:prstGeom>
          <a:noFill/>
          <a:ln w="8890">
            <a:solidFill>
              <a:srgbClr val="D7DE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8549640" y="4498848"/>
            <a:ext cx="2788920" cy="731520"/>
          </a:xfrm>
          <a:prstGeom prst="roundRect">
            <a:avLst>
              <a:gd name="adj" fmla="val 0"/>
            </a:avLst>
          </a:prstGeom>
          <a:solidFill>
            <a:srgbClr val="F6FAFF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8549640" y="4498848"/>
            <a:ext cx="41148" cy="731520"/>
          </a:xfrm>
          <a:prstGeom prst="rect">
            <a:avLst/>
          </a:prstGeom>
          <a:solidFill>
            <a:srgbClr val="2F80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8750808" y="4681728"/>
            <a:ext cx="2404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Роли</a:t>
            </a:r>
            <a:endParaRPr lang="en-US" sz="1220" dirty="0"/>
          </a:p>
        </p:txBody>
      </p:sp>
      <p:sp>
        <p:nvSpPr>
          <p:cNvPr id="39" name="Text 37"/>
          <p:cNvSpPr/>
          <p:nvPr/>
        </p:nvSpPr>
        <p:spPr>
          <a:xfrm>
            <a:off x="8750808" y="5010912"/>
            <a:ext cx="24048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разный доступ по задачам</a:t>
            </a:r>
            <a:endParaRPr lang="en-US" sz="930" dirty="0"/>
          </a:p>
        </p:txBody>
      </p:sp>
      <p:sp>
        <p:nvSpPr>
          <p:cNvPr id="40" name="Shape 38"/>
          <p:cNvSpPr/>
          <p:nvPr/>
        </p:nvSpPr>
        <p:spPr>
          <a:xfrm>
            <a:off x="8549640" y="4864608"/>
            <a:ext cx="0" cy="0"/>
          </a:xfrm>
          <a:prstGeom prst="line">
            <a:avLst/>
          </a:prstGeom>
          <a:noFill/>
          <a:ln w="8890">
            <a:solidFill>
              <a:srgbClr val="D7DE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29184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2F80ED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USERS &amp; ROLES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85216" y="62179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250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Для кого создаётся решение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899648" y="393192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>
                <a:latin typeface="Arial"/>
              </a:rPr>
              <a:t>05</a:t>
            </a:r>
          </a:p>
        </p:txBody>
      </p:sp>
      <p:sp>
        <p:nvSpPr>
          <p:cNvPr id="5" name="Shape 3"/>
          <p:cNvSpPr/>
          <p:nvPr/>
        </p:nvSpPr>
        <p:spPr>
          <a:xfrm>
            <a:off x="585216" y="1298448"/>
            <a:ext cx="11027664" cy="0"/>
          </a:xfrm>
          <a:prstGeom prst="line">
            <a:avLst/>
          </a:prstGeom>
          <a:noFill/>
          <a:ln w="8890">
            <a:solidFill>
              <a:srgbClr val="D7DE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85216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IBS — School Analytics Dashboard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301984" y="643737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r>
              <a:rPr>
                <a:latin typeface="Arial"/>
              </a:rPr>
              <a:t>05</a:t>
            </a:r>
          </a:p>
        </p:txBody>
      </p:sp>
      <p:sp>
        <p:nvSpPr>
          <p:cNvPr id="8" name="Shape 6"/>
          <p:cNvSpPr/>
          <p:nvPr/>
        </p:nvSpPr>
        <p:spPr>
          <a:xfrm>
            <a:off x="585216" y="6336792"/>
            <a:ext cx="11027664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749808" y="1700784"/>
            <a:ext cx="2926080" cy="1133856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  <a:effectLst>
            <a:outerShdw blurRad="12700" dist="508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914400" y="186537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F80ED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26464" y="1847088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5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Директор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26464" y="2203704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869" b="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Сводная картина школы, приоритеты и динамика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4224528" y="1700784"/>
            <a:ext cx="2926080" cy="1133856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  <a:effectLst>
            <a:outerShdw blurRad="12700" dist="508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389120" y="186537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F80ED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01184" y="1847088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5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Завуч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01184" y="2203704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869" b="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Контроль параллелей, классов и причин отклонений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7699248" y="1700784"/>
            <a:ext cx="2926080" cy="1133856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  <a:effectLst>
            <a:outerShdw blurRad="12700" dist="508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863840" y="186537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F80ED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375904" y="1847088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5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Учитель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75904" y="2203704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869" b="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Состояние своего класса и учеников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749808" y="3337560"/>
            <a:ext cx="2926080" cy="1133856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  <a:effectLst>
            <a:outerShdw blurRad="12700" dist="508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914400" y="35021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F80ED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426464" y="3483864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5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Аналитик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426464" y="38404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869" b="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Проверка данных, метрик и отчётов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4224528" y="3337560"/>
            <a:ext cx="2926080" cy="1133856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  <a:effectLst>
            <a:outerShdw blurRad="12700" dist="508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4389120" y="35021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F80ED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01184" y="3483864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sz="1450" b="1">
                <a:solidFill>
                  <a:srgbClr val="073763"/>
                </a:solidFill>
                <a:latin typeface="Arial"/>
              </a:rPr>
              <a:t>Ученик</a:t>
            </a:r>
          </a:p>
        </p:txBody>
      </p:sp>
      <p:sp>
        <p:nvSpPr>
          <p:cNvPr id="28" name="Text 26"/>
          <p:cNvSpPr/>
          <p:nvPr/>
        </p:nvSpPr>
        <p:spPr>
          <a:xfrm>
            <a:off x="4901184" y="38404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sz="869" b="0">
                <a:solidFill>
                  <a:srgbClr val="6B7280"/>
                </a:solidFill>
                <a:latin typeface="Arial"/>
              </a:rPr>
              <a:t>Личный прогресс и понятная обратная связь</a:t>
            </a:r>
          </a:p>
        </p:txBody>
      </p:sp>
      <p:sp>
        <p:nvSpPr>
          <p:cNvPr id="29" name="Shape 27"/>
          <p:cNvSpPr/>
          <p:nvPr/>
        </p:nvSpPr>
        <p:spPr>
          <a:xfrm>
            <a:off x="7699248" y="3337560"/>
            <a:ext cx="2926080" cy="1133856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  <a:effectLst>
            <a:outerShdw blurRad="12700" dist="508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7863840" y="35021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F80ED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375904" y="3483864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sz="1450" b="1">
                <a:solidFill>
                  <a:srgbClr val="073763"/>
                </a:solidFill>
                <a:latin typeface="Arial"/>
              </a:rPr>
              <a:t>Администратор</a:t>
            </a:r>
          </a:p>
        </p:txBody>
      </p:sp>
      <p:sp>
        <p:nvSpPr>
          <p:cNvPr id="32" name="Text 30"/>
          <p:cNvSpPr/>
          <p:nvPr/>
        </p:nvSpPr>
        <p:spPr>
          <a:xfrm>
            <a:off x="8375904" y="38404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sz="869" b="0">
                <a:solidFill>
                  <a:srgbClr val="6B7280"/>
                </a:solidFill>
                <a:latin typeface="Arial"/>
              </a:rPr>
              <a:t>Пользователи, роли, доступ, журнал</a:t>
            </a:r>
          </a:p>
        </p:txBody>
      </p:sp>
      <p:sp>
        <p:nvSpPr>
          <p:cNvPr id="33" name="Shape 31"/>
          <p:cNvSpPr/>
          <p:nvPr/>
        </p:nvSpPr>
        <p:spPr>
          <a:xfrm>
            <a:off x="749808" y="4919472"/>
            <a:ext cx="10405872" cy="530352"/>
          </a:xfrm>
          <a:prstGeom prst="rect">
            <a:avLst/>
          </a:prstGeom>
          <a:solidFill>
            <a:srgbClr val="EAF2FF"/>
          </a:solidFill>
          <a:ln w="6350">
            <a:solidFill>
              <a:srgbClr val="DCEB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960120" y="5084064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20" b="1" dirty="0">
                <a:solidFill>
                  <a:srgbClr val="073763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Ключевой принцип: один продукт — разные управленческие сценарии и разный уровень детализации</a:t>
            </a:r>
            <a:endParaRPr lang="en-US" sz="11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29184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2F80ED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METRIC SYSTEM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85216" y="62179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250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Что мониторит система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899648" y="393192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>
                <a:latin typeface="Arial"/>
              </a:rPr>
              <a:t>06</a:t>
            </a:r>
          </a:p>
        </p:txBody>
      </p:sp>
      <p:sp>
        <p:nvSpPr>
          <p:cNvPr id="5" name="Shape 3"/>
          <p:cNvSpPr/>
          <p:nvPr/>
        </p:nvSpPr>
        <p:spPr>
          <a:xfrm>
            <a:off x="585216" y="1298448"/>
            <a:ext cx="11027664" cy="0"/>
          </a:xfrm>
          <a:prstGeom prst="line">
            <a:avLst/>
          </a:prstGeom>
          <a:noFill/>
          <a:ln w="8890">
            <a:solidFill>
              <a:srgbClr val="D7DE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85216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IBS — School Analytics Dashboard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301984" y="643737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r>
              <a:rPr>
                <a:latin typeface="Arial"/>
              </a:rPr>
              <a:t>06</a:t>
            </a:r>
          </a:p>
        </p:txBody>
      </p:sp>
      <p:sp>
        <p:nvSpPr>
          <p:cNvPr id="8" name="Shape 6"/>
          <p:cNvSpPr/>
          <p:nvPr/>
        </p:nvSpPr>
        <p:spPr>
          <a:xfrm>
            <a:off x="585216" y="6336792"/>
            <a:ext cx="11027664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49808" y="152704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90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Дашборд построен вокруг системы метрик, а не вокруг одного «рейтинга»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49808" y="2148840"/>
            <a:ext cx="2176272" cy="1115568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32688" y="2304288"/>
            <a:ext cx="18105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100" b="1" dirty="0">
                <a:solidFill>
                  <a:srgbClr val="0B4F9C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0–100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32688" y="2715768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970" b="1" dirty="0">
                <a:solidFill>
                  <a:srgbClr val="073763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Итоговый рейтинг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932688" y="2990088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единая шкала класса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364992" y="2148840"/>
            <a:ext cx="2176272" cy="1115568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547872" y="2304288"/>
            <a:ext cx="18105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100" b="1" dirty="0">
                <a:solidFill>
                  <a:srgbClr val="2F80ED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Средний балл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2715768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970" b="1" dirty="0">
                <a:solidFill>
                  <a:srgbClr val="073763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Академика</a:t>
            </a:r>
            <a:endParaRPr lang="en-US" sz="970" dirty="0"/>
          </a:p>
        </p:txBody>
      </p:sp>
      <p:sp>
        <p:nvSpPr>
          <p:cNvPr id="17" name="Text 15"/>
          <p:cNvSpPr/>
          <p:nvPr/>
        </p:nvSpPr>
        <p:spPr>
          <a:xfrm>
            <a:off x="3547872" y="2990088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результаты и тренд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980176" y="2148840"/>
            <a:ext cx="2176272" cy="1115568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163056" y="2304288"/>
            <a:ext cx="18105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100" b="1" dirty="0">
                <a:solidFill>
                  <a:srgbClr val="2F80ED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Посещаемость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6163056" y="2715768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970" b="1" dirty="0">
                <a:solidFill>
                  <a:srgbClr val="073763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Дисциплина</a:t>
            </a:r>
            <a:endParaRPr lang="en-US" sz="970" dirty="0"/>
          </a:p>
        </p:txBody>
      </p:sp>
      <p:sp>
        <p:nvSpPr>
          <p:cNvPr id="21" name="Text 19"/>
          <p:cNvSpPr/>
          <p:nvPr/>
        </p:nvSpPr>
        <p:spPr>
          <a:xfrm>
            <a:off x="6163056" y="2990088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пропуски и изменения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8595360" y="2148840"/>
            <a:ext cx="2176272" cy="1115568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8778240" y="2304288"/>
            <a:ext cx="18105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100" b="1" dirty="0">
                <a:solidFill>
                  <a:srgbClr val="2F80ED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Олимпиады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8778240" y="2715768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970" b="1" dirty="0">
                <a:solidFill>
                  <a:srgbClr val="073763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Развитие</a:t>
            </a:r>
            <a:endParaRPr lang="en-US" sz="970" dirty="0"/>
          </a:p>
        </p:txBody>
      </p:sp>
      <p:sp>
        <p:nvSpPr>
          <p:cNvPr id="25" name="Text 23"/>
          <p:cNvSpPr/>
          <p:nvPr/>
        </p:nvSpPr>
        <p:spPr>
          <a:xfrm>
            <a:off x="8778240" y="2990088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участие и достижения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49808" y="3703320"/>
            <a:ext cx="2176272" cy="1115568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932688" y="3858768"/>
            <a:ext cx="18105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100" b="1" dirty="0">
                <a:solidFill>
                  <a:srgbClr val="2F80ED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СПД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32688" y="4270248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970" b="1" dirty="0">
                <a:solidFill>
                  <a:srgbClr val="073763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Активность</a:t>
            </a:r>
            <a:endParaRPr lang="en-US" sz="970" dirty="0"/>
          </a:p>
        </p:txBody>
      </p:sp>
      <p:sp>
        <p:nvSpPr>
          <p:cNvPr id="29" name="Text 27"/>
          <p:cNvSpPr/>
          <p:nvPr/>
        </p:nvSpPr>
        <p:spPr>
          <a:xfrm>
            <a:off x="932688" y="4544568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вовлечённость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364992" y="3703320"/>
            <a:ext cx="2176272" cy="1115568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3547872" y="3858768"/>
            <a:ext cx="18105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100" b="1" dirty="0">
                <a:solidFill>
                  <a:srgbClr val="2F80ED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Экзамены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3547872" y="4270248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970" b="1" dirty="0">
                <a:solidFill>
                  <a:srgbClr val="073763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Итоговый контроль</a:t>
            </a:r>
            <a:endParaRPr lang="en-US" sz="970" dirty="0"/>
          </a:p>
        </p:txBody>
      </p:sp>
      <p:sp>
        <p:nvSpPr>
          <p:cNvPr id="33" name="Text 31"/>
          <p:cNvSpPr/>
          <p:nvPr/>
        </p:nvSpPr>
        <p:spPr>
          <a:xfrm>
            <a:off x="3547872" y="4544568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готовность и динамика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980176" y="3703320"/>
            <a:ext cx="2176272" cy="1115568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6163056" y="3858768"/>
            <a:ext cx="18105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100" b="1" dirty="0">
                <a:solidFill>
                  <a:srgbClr val="D64545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Риск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6163056" y="4270248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970" b="1" dirty="0">
                <a:solidFill>
                  <a:srgbClr val="073763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Ранний сигнал</a:t>
            </a:r>
            <a:endParaRPr lang="en-US" sz="970" dirty="0"/>
          </a:p>
        </p:txBody>
      </p:sp>
      <p:sp>
        <p:nvSpPr>
          <p:cNvPr id="37" name="Text 35"/>
          <p:cNvSpPr/>
          <p:nvPr/>
        </p:nvSpPr>
        <p:spPr>
          <a:xfrm>
            <a:off x="6163056" y="4544568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низкий / средний / высокий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8595360" y="3703320"/>
            <a:ext cx="2176272" cy="1115568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8778240" y="3858768"/>
            <a:ext cx="18105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100" b="1" dirty="0">
                <a:solidFill>
                  <a:srgbClr val="2F80ED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Период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8778240" y="4270248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970" b="1" dirty="0">
                <a:solidFill>
                  <a:srgbClr val="073763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Динамика</a:t>
            </a:r>
            <a:endParaRPr lang="en-US" sz="970" dirty="0"/>
          </a:p>
        </p:txBody>
      </p:sp>
      <p:sp>
        <p:nvSpPr>
          <p:cNvPr id="41" name="Text 39"/>
          <p:cNvSpPr/>
          <p:nvPr/>
        </p:nvSpPr>
        <p:spPr>
          <a:xfrm>
            <a:off x="8778240" y="4544568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сравнение во времени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29184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2F80ED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OPERATING MODEL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85216" y="62179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250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Принцип работы решения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899648" y="393192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>
                <a:latin typeface="Arial"/>
              </a:rPr>
              <a:t>07</a:t>
            </a:r>
          </a:p>
        </p:txBody>
      </p:sp>
      <p:sp>
        <p:nvSpPr>
          <p:cNvPr id="5" name="Shape 3"/>
          <p:cNvSpPr/>
          <p:nvPr/>
        </p:nvSpPr>
        <p:spPr>
          <a:xfrm>
            <a:off x="585216" y="1298448"/>
            <a:ext cx="11027664" cy="0"/>
          </a:xfrm>
          <a:prstGeom prst="line">
            <a:avLst/>
          </a:prstGeom>
          <a:noFill/>
          <a:ln w="8890">
            <a:solidFill>
              <a:srgbClr val="D7DE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85216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IBS — School Analytics Dashboard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301984" y="643737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r>
              <a:rPr>
                <a:latin typeface="Arial"/>
              </a:rPr>
              <a:t>07</a:t>
            </a:r>
          </a:p>
        </p:txBody>
      </p:sp>
      <p:sp>
        <p:nvSpPr>
          <p:cNvPr id="8" name="Shape 6"/>
          <p:cNvSpPr/>
          <p:nvPr/>
        </p:nvSpPr>
        <p:spPr>
          <a:xfrm>
            <a:off x="585216" y="6336792"/>
            <a:ext cx="11027664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76656" y="2176272"/>
            <a:ext cx="1444752" cy="126187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676656" y="2176272"/>
            <a:ext cx="41148" cy="1261872"/>
          </a:xfrm>
          <a:prstGeom prst="rect">
            <a:avLst/>
          </a:prstGeom>
          <a:solidFill>
            <a:srgbClr val="2F80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77824" y="2359152"/>
            <a:ext cx="1060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Источники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877824" y="2688336"/>
            <a:ext cx="1060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r>
              <a:rPr dirty="0" err="1">
                <a:latin typeface="Arial"/>
              </a:rPr>
              <a:t>подключаются</a:t>
            </a:r>
            <a:r>
              <a:rPr dirty="0">
                <a:latin typeface="Arial"/>
              </a:rPr>
              <a:t> к </a:t>
            </a:r>
            <a:r>
              <a:rPr dirty="0" err="1">
                <a:latin typeface="Arial"/>
              </a:rPr>
              <a:t>единой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базе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данных</a:t>
            </a:r>
            <a:endParaRPr dirty="0">
              <a:latin typeface="Arial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185416" y="2670048"/>
            <a:ext cx="256032" cy="173736"/>
          </a:xfrm>
          <a:prstGeom prst="chevron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2551176" y="2176272"/>
            <a:ext cx="1444752" cy="126187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2551176" y="2176272"/>
            <a:ext cx="41148" cy="1261872"/>
          </a:xfrm>
          <a:prstGeom prst="rect">
            <a:avLst/>
          </a:prstGeom>
          <a:solidFill>
            <a:srgbClr val="2F80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2752344" y="2359152"/>
            <a:ext cx="1060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Обработка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2752344" y="2688336"/>
            <a:ext cx="1060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очистка, нормализация, агрегация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4059936" y="2670048"/>
            <a:ext cx="256032" cy="173736"/>
          </a:xfrm>
          <a:prstGeom prst="chevron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4425696" y="2176272"/>
            <a:ext cx="1444752" cy="126187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4425696" y="2176272"/>
            <a:ext cx="41148" cy="1261872"/>
          </a:xfrm>
          <a:prstGeom prst="rect">
            <a:avLst/>
          </a:prstGeom>
          <a:solidFill>
            <a:srgbClr val="2F80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4626864" y="2359152"/>
            <a:ext cx="1060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Метрики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4626864" y="2688336"/>
            <a:ext cx="1060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рейтинг, динамика, KPI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5934456" y="2670048"/>
            <a:ext cx="256032" cy="173736"/>
          </a:xfrm>
          <a:prstGeom prst="chevron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6300216" y="2176272"/>
            <a:ext cx="1444752" cy="1261872"/>
          </a:xfrm>
          <a:prstGeom prst="roundRect">
            <a:avLst>
              <a:gd name="adj" fmla="val 0"/>
            </a:avLst>
          </a:prstGeom>
          <a:solidFill>
            <a:srgbClr val="FFF7F7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6300216" y="2176272"/>
            <a:ext cx="41148" cy="1261872"/>
          </a:xfrm>
          <a:prstGeom prst="rect">
            <a:avLst/>
          </a:prstGeom>
          <a:solidFill>
            <a:srgbClr val="D64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501384" y="2359152"/>
            <a:ext cx="1060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Риск-модель</a:t>
            </a:r>
            <a:endParaRPr lang="en-US" sz="1220" dirty="0"/>
          </a:p>
        </p:txBody>
      </p:sp>
      <p:sp>
        <p:nvSpPr>
          <p:cNvPr id="27" name="Text 25"/>
          <p:cNvSpPr/>
          <p:nvPr/>
        </p:nvSpPr>
        <p:spPr>
          <a:xfrm>
            <a:off x="6501384" y="2688336"/>
            <a:ext cx="1060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сигнал внимания, не приговор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7808976" y="2670048"/>
            <a:ext cx="256032" cy="173736"/>
          </a:xfrm>
          <a:prstGeom prst="chevron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8174736" y="2176272"/>
            <a:ext cx="1444752" cy="126187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8174736" y="2176272"/>
            <a:ext cx="41148" cy="1261872"/>
          </a:xfrm>
          <a:prstGeom prst="rect">
            <a:avLst/>
          </a:prstGeom>
          <a:solidFill>
            <a:srgbClr val="2F80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8375904" y="2359152"/>
            <a:ext cx="1060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Отчёты</a:t>
            </a:r>
            <a:endParaRPr lang="en-US" sz="1220" dirty="0"/>
          </a:p>
        </p:txBody>
      </p:sp>
      <p:sp>
        <p:nvSpPr>
          <p:cNvPr id="32" name="Text 30"/>
          <p:cNvSpPr/>
          <p:nvPr/>
        </p:nvSpPr>
        <p:spPr>
          <a:xfrm>
            <a:off x="8375904" y="2688336"/>
            <a:ext cx="1060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выгрузка и проверка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9683496" y="2670048"/>
            <a:ext cx="256032" cy="173736"/>
          </a:xfrm>
          <a:prstGeom prst="chevron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10049256" y="2176272"/>
            <a:ext cx="1444752" cy="126187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10049256" y="2176272"/>
            <a:ext cx="41148" cy="1261872"/>
          </a:xfrm>
          <a:prstGeom prst="rect">
            <a:avLst/>
          </a:prstGeom>
          <a:solidFill>
            <a:srgbClr val="2F80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10250424" y="2359152"/>
            <a:ext cx="1060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Решение</a:t>
            </a:r>
            <a:endParaRPr lang="en-US" sz="1220" dirty="0"/>
          </a:p>
        </p:txBody>
      </p:sp>
      <p:sp>
        <p:nvSpPr>
          <p:cNvPr id="37" name="Text 35"/>
          <p:cNvSpPr/>
          <p:nvPr/>
        </p:nvSpPr>
        <p:spPr>
          <a:xfrm>
            <a:off x="10250424" y="2688336"/>
            <a:ext cx="1060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действие руководителя</a:t>
            </a:r>
            <a:endParaRPr lang="en-US" sz="930" dirty="0"/>
          </a:p>
        </p:txBody>
      </p:sp>
      <p:sp>
        <p:nvSpPr>
          <p:cNvPr id="38" name="Shape 36"/>
          <p:cNvSpPr/>
          <p:nvPr/>
        </p:nvSpPr>
        <p:spPr>
          <a:xfrm>
            <a:off x="1234440" y="4343400"/>
            <a:ext cx="9646920" cy="731520"/>
          </a:xfrm>
          <a:prstGeom prst="roundRect">
            <a:avLst/>
          </a:prstGeom>
          <a:solidFill>
            <a:srgbClr val="073763"/>
          </a:solidFill>
          <a:ln w="12700">
            <a:solidFill>
              <a:srgbClr val="07376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1508760" y="45902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FFFFFF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Дашборд не заменяет управленца: он быстрее показывает отклонение, помогает проверить гипотезу и выбрать действие</a:t>
            </a:r>
            <a:endParaRPr lang="en-US" sz="12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5216" y="329184"/>
            <a:ext cx="32004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1">
                <a:solidFill>
                  <a:srgbClr val="2F80ED"/>
                </a:solidFill>
                <a:latin typeface="Arial"/>
              </a:rPr>
              <a:t>CLASS RATING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603504"/>
            <a:ext cx="886968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>
                <a:solidFill>
                  <a:srgbClr val="073763"/>
                </a:solidFill>
                <a:latin typeface="Arial"/>
              </a:rPr>
              <a:t>Рейтинг классов как управленческий слой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99648" y="393192"/>
            <a:ext cx="7315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>
                <a:latin typeface="Arial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07592"/>
            <a:ext cx="11018520" cy="9144"/>
          </a:xfrm>
          <a:prstGeom prst="rect">
            <a:avLst/>
          </a:prstGeom>
          <a:solidFill>
            <a:srgbClr val="D8E2ED"/>
          </a:solidFill>
          <a:ln w="12700"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85216" y="6492240"/>
            <a:ext cx="41148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0">
                <a:solidFill>
                  <a:srgbClr val="6B7280"/>
                </a:solidFill>
                <a:latin typeface="Arial"/>
              </a:rPr>
              <a:t>IBS / School Analytics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37376"/>
            <a:ext cx="3200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>
                <a:latin typeface="Arial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01952"/>
            <a:ext cx="3310128" cy="932688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2066544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073763"/>
                </a:solidFill>
                <a:latin typeface="Arial"/>
              </a:rPr>
              <a:t>Единая шкала 0–100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377440"/>
            <a:ext cx="2852928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0">
                <a:solidFill>
                  <a:srgbClr val="6B7280"/>
                </a:solidFill>
                <a:latin typeface="Arial"/>
              </a:rPr>
              <a:t>Классы сравниваются по понятной управленческой шкале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901952"/>
            <a:ext cx="3310128" cy="932688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27448" y="2066544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073763"/>
                </a:solidFill>
                <a:latin typeface="Arial"/>
              </a:rPr>
              <a:t>Динамика за период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2377440"/>
            <a:ext cx="2852928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0">
                <a:solidFill>
                  <a:srgbClr val="6B7280"/>
                </a:solidFill>
                <a:latin typeface="Arial"/>
              </a:rPr>
              <a:t>Видно не только текущее состояние, но и изменение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27832"/>
            <a:ext cx="3310128" cy="932688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24128" y="3392424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073763"/>
                </a:solidFill>
                <a:latin typeface="Arial"/>
              </a:rPr>
              <a:t>Раскрытие причин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703320"/>
            <a:ext cx="2852928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0">
                <a:solidFill>
                  <a:srgbClr val="6B7280"/>
                </a:solidFill>
                <a:latin typeface="Arial"/>
              </a:rPr>
              <a:t>Рейтинг объясняется через оценки, посещаемость, активность, олимпиады и риск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280" y="3227832"/>
            <a:ext cx="3310128" cy="932688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27448" y="3392424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073763"/>
                </a:solidFill>
                <a:latin typeface="Arial"/>
              </a:rPr>
              <a:t>Настраиваемые веса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27448" y="3703320"/>
            <a:ext cx="2852928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0">
                <a:solidFill>
                  <a:srgbClr val="6B7280"/>
                </a:solidFill>
                <a:latin typeface="Arial"/>
              </a:rPr>
              <a:t>Методика может адаптироваться под управленческую модель школы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02752" y="1874519"/>
            <a:ext cx="2880360" cy="2331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49640" y="2139696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073763"/>
                </a:solidFill>
                <a:latin typeface="Arial"/>
              </a:rPr>
              <a:t>Логика рейтинга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2596896"/>
            <a:ext cx="23317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Arial"/>
              </a:rPr>
              <a:t>Рейтинг нужен не для соревнования, а для диагностики состояния параллели и быстрого перехода к причинам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800600"/>
            <a:ext cx="102412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700" b="1">
                <a:solidFill>
                  <a:srgbClr val="073763"/>
                </a:solidFill>
                <a:latin typeface="Arial"/>
              </a:rPr>
              <a:t>Главный управленческий смысл — быстро увидеть отклонение, понять его источник и выбрать действие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5216" y="329184"/>
            <a:ext cx="32004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1">
                <a:solidFill>
                  <a:srgbClr val="2F80ED"/>
                </a:solidFill>
                <a:latin typeface="Arial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603504"/>
            <a:ext cx="886968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>
                <a:solidFill>
                  <a:srgbClr val="073763"/>
                </a:solidFill>
                <a:latin typeface="Arial"/>
              </a:rPr>
              <a:t>Формула итогового рейтинга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99648" y="393192"/>
            <a:ext cx="7315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>
                <a:latin typeface="Arial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07592"/>
            <a:ext cx="11018520" cy="9144"/>
          </a:xfrm>
          <a:prstGeom prst="rect">
            <a:avLst/>
          </a:prstGeom>
          <a:solidFill>
            <a:srgbClr val="D8E2ED"/>
          </a:solidFill>
          <a:ln w="12700"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85216" y="6492240"/>
            <a:ext cx="41148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0">
                <a:solidFill>
                  <a:srgbClr val="6B7280"/>
                </a:solidFill>
                <a:latin typeface="Arial"/>
              </a:rPr>
              <a:t>IBS / School Analytics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37376"/>
            <a:ext cx="3200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>
                <a:latin typeface="Arial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1755648"/>
            <a:ext cx="10652760" cy="8046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9264" y="1984248"/>
            <a:ext cx="1028700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250" b="1">
                <a:solidFill>
                  <a:srgbClr val="073763"/>
                </a:solidFill>
                <a:latin typeface="Arial"/>
              </a:rPr>
              <a:t>Рейтинг = 0,35×Академика + 0,25×Олимпиады + 0,15×Посещаемость + 0,15×Активность + 0,10×Низкий риск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3063240"/>
            <a:ext cx="1993392" cy="1261872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0976" y="3264408"/>
            <a:ext cx="868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2F80ED"/>
                </a:solidFill>
                <a:latin typeface="Arial"/>
              </a:rPr>
              <a:t>35%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3611880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73763"/>
                </a:solidFill>
                <a:latin typeface="Arial"/>
              </a:rPr>
              <a:t>Академика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3904487"/>
            <a:ext cx="162763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>
                <a:solidFill>
                  <a:srgbClr val="6B7280"/>
                </a:solidFill>
                <a:latin typeface="Arial"/>
              </a:rPr>
              <a:t>результаты по предметам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16936" y="3063240"/>
            <a:ext cx="1993392" cy="1261872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81528" y="3264408"/>
            <a:ext cx="868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2F80ED"/>
                </a:solidFill>
                <a:latin typeface="Arial"/>
              </a:rPr>
              <a:t>25%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1528" y="3611880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73763"/>
                </a:solidFill>
                <a:latin typeface="Arial"/>
              </a:rPr>
              <a:t>Олимпиады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1528" y="3904487"/>
            <a:ext cx="162763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>
                <a:solidFill>
                  <a:srgbClr val="6B7280"/>
                </a:solidFill>
                <a:latin typeface="Arial"/>
              </a:rPr>
              <a:t>участие и достижения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47488" y="3063240"/>
            <a:ext cx="1993392" cy="1261872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12080" y="3264408"/>
            <a:ext cx="868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2F80ED"/>
                </a:solidFill>
                <a:latin typeface="Arial"/>
              </a:rPr>
              <a:t>15%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611880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73763"/>
                </a:solidFill>
                <a:latin typeface="Arial"/>
              </a:rPr>
              <a:t>Посещаемость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904487"/>
            <a:ext cx="162763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>
                <a:solidFill>
                  <a:srgbClr val="6B7280"/>
                </a:solidFill>
                <a:latin typeface="Arial"/>
              </a:rPr>
              <a:t>регулярность обучения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78040" y="3063240"/>
            <a:ext cx="1993392" cy="1261872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42632" y="3264408"/>
            <a:ext cx="868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2F80ED"/>
                </a:solidFill>
                <a:latin typeface="Arial"/>
              </a:rPr>
              <a:t>15%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42632" y="3611880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73763"/>
                </a:solidFill>
                <a:latin typeface="Arial"/>
              </a:rPr>
              <a:t>Активность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42632" y="3904487"/>
            <a:ext cx="162763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>
                <a:solidFill>
                  <a:srgbClr val="6B7280"/>
                </a:solidFill>
                <a:latin typeface="Arial"/>
              </a:rPr>
              <a:t>вовлечённость и СПД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08592" y="3063240"/>
            <a:ext cx="1993392" cy="1261872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473184" y="3264408"/>
            <a:ext cx="868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2F80ED"/>
                </a:solidFill>
                <a:latin typeface="Arial"/>
              </a:rPr>
              <a:t>10%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73184" y="3611880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73763"/>
                </a:solidFill>
                <a:latin typeface="Arial"/>
              </a:rPr>
              <a:t>Низкий риск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73184" y="3904487"/>
            <a:ext cx="162763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>
                <a:solidFill>
                  <a:srgbClr val="6B7280"/>
                </a:solidFill>
                <a:latin typeface="Arial"/>
              </a:rPr>
              <a:t>стабильность показателей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983480"/>
            <a:ext cx="1014984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073763"/>
                </a:solidFill>
                <a:latin typeface="Arial"/>
              </a:rPr>
              <a:t>Прозрачная методика важнее «чёрного ящика»: школа должна понимать, почему показатель изменился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29184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2F80ED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EARLY SIGNAL MODEL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85216" y="62179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250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Риск-модель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899648" y="393192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>
                <a:latin typeface="Arial"/>
              </a:rPr>
              <a:t>10</a:t>
            </a:r>
          </a:p>
        </p:txBody>
      </p:sp>
      <p:sp>
        <p:nvSpPr>
          <p:cNvPr id="5" name="Shape 3"/>
          <p:cNvSpPr/>
          <p:nvPr/>
        </p:nvSpPr>
        <p:spPr>
          <a:xfrm>
            <a:off x="585216" y="1298448"/>
            <a:ext cx="11027664" cy="0"/>
          </a:xfrm>
          <a:prstGeom prst="line">
            <a:avLst/>
          </a:prstGeom>
          <a:noFill/>
          <a:ln w="8890">
            <a:solidFill>
              <a:srgbClr val="D7DE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85216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IBS — School Analytics Dashboard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301984" y="643737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r>
              <a:rPr>
                <a:latin typeface="Arial"/>
              </a:rPr>
              <a:t>10</a:t>
            </a:r>
          </a:p>
        </p:txBody>
      </p:sp>
      <p:sp>
        <p:nvSpPr>
          <p:cNvPr id="8" name="Shape 6"/>
          <p:cNvSpPr/>
          <p:nvPr/>
        </p:nvSpPr>
        <p:spPr>
          <a:xfrm>
            <a:off x="585216" y="6336792"/>
            <a:ext cx="11027664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86384" y="1545336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90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Риск — это ранний сигнал внимания, а не автоматический управленческий вывод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04672" y="2148840"/>
            <a:ext cx="2121408" cy="5029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804672" y="2148840"/>
            <a:ext cx="41148" cy="502920"/>
          </a:xfrm>
          <a:prstGeom prst="rect">
            <a:avLst/>
          </a:prstGeom>
          <a:solidFill>
            <a:srgbClr val="2F80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005840" y="23317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Снижение оценок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3291840" y="2148840"/>
            <a:ext cx="2121408" cy="5029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291840" y="2148840"/>
            <a:ext cx="41148" cy="502920"/>
          </a:xfrm>
          <a:prstGeom prst="rect">
            <a:avLst/>
          </a:prstGeom>
          <a:solidFill>
            <a:srgbClr val="2F80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493008" y="23317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Рост пропусков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5779008" y="2148840"/>
            <a:ext cx="2121408" cy="5029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5779008" y="2148840"/>
            <a:ext cx="41148" cy="502920"/>
          </a:xfrm>
          <a:prstGeom prst="rect">
            <a:avLst/>
          </a:prstGeom>
          <a:solidFill>
            <a:srgbClr val="2F80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980176" y="23317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Низкая активность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804672" y="2862072"/>
            <a:ext cx="2121408" cy="5029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804672" y="2862072"/>
            <a:ext cx="41148" cy="502920"/>
          </a:xfrm>
          <a:prstGeom prst="rect">
            <a:avLst/>
          </a:prstGeom>
          <a:solidFill>
            <a:srgbClr val="2F80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1005840" y="304495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Нет положительной динамики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3291840" y="2862072"/>
            <a:ext cx="2121408" cy="5029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3291840" y="2862072"/>
            <a:ext cx="41148" cy="502920"/>
          </a:xfrm>
          <a:prstGeom prst="rect">
            <a:avLst/>
          </a:prstGeom>
          <a:solidFill>
            <a:srgbClr val="D64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3493008" y="304495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Слабая вовлечённость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5779008" y="2862072"/>
            <a:ext cx="2121408" cy="5029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5779008" y="2862072"/>
            <a:ext cx="41148" cy="502920"/>
          </a:xfrm>
          <a:prstGeom prst="rect">
            <a:avLst/>
          </a:prstGeom>
          <a:solidFill>
            <a:srgbClr val="D64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5980176" y="304495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Негатив по нескольким метрикам</a:t>
            </a:r>
            <a:endParaRPr lang="en-US" sz="1220" dirty="0"/>
          </a:p>
        </p:txBody>
      </p:sp>
      <p:sp>
        <p:nvSpPr>
          <p:cNvPr id="28" name="Shape 26"/>
          <p:cNvSpPr/>
          <p:nvPr/>
        </p:nvSpPr>
        <p:spPr>
          <a:xfrm>
            <a:off x="969264" y="4434840"/>
            <a:ext cx="9875520" cy="411480"/>
          </a:xfrm>
          <a:prstGeom prst="roundRect">
            <a:avLst/>
          </a:prstGeom>
          <a:solidFill>
            <a:srgbClr val="E6F6EF"/>
          </a:solidFill>
          <a:ln w="12700">
            <a:solidFill>
              <a:srgbClr val="E6F6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4261104" y="4434840"/>
            <a:ext cx="3291840" cy="411480"/>
          </a:xfrm>
          <a:prstGeom prst="rect">
            <a:avLst/>
          </a:prstGeom>
          <a:solidFill>
            <a:srgbClr val="FFF3D9"/>
          </a:solidFill>
          <a:ln w="12700">
            <a:solidFill>
              <a:srgbClr val="FFF3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7552944" y="4434840"/>
            <a:ext cx="3291840" cy="411480"/>
          </a:xfrm>
          <a:prstGeom prst="rect">
            <a:avLst/>
          </a:prstGeom>
          <a:solidFill>
            <a:srgbClr val="FFE7E7"/>
          </a:solidFill>
          <a:ln w="12700">
            <a:solidFill>
              <a:srgbClr val="FFE7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1024128" y="4581144"/>
            <a:ext cx="3108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13A36F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НИЗКИЙ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352544" y="4581144"/>
            <a:ext cx="3063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СРЕДНИЙ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644384" y="4581144"/>
            <a:ext cx="3063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D64545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ВЫСОКИЙ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331720" y="5257800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Сигнал → проверка контекста → педагогическое действие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29184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2F80ED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DATA &amp; ANALYTICS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85216" y="62179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250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Аналитическая часть проекта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899648" y="393192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>
                <a:latin typeface="Arial"/>
              </a:rPr>
              <a:t>11</a:t>
            </a:r>
          </a:p>
        </p:txBody>
      </p:sp>
      <p:sp>
        <p:nvSpPr>
          <p:cNvPr id="5" name="Shape 3"/>
          <p:cNvSpPr/>
          <p:nvPr/>
        </p:nvSpPr>
        <p:spPr>
          <a:xfrm>
            <a:off x="585216" y="1298448"/>
            <a:ext cx="11027664" cy="0"/>
          </a:xfrm>
          <a:prstGeom prst="line">
            <a:avLst/>
          </a:prstGeom>
          <a:noFill/>
          <a:ln w="8890">
            <a:solidFill>
              <a:srgbClr val="D7DE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85216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IBS — School Analytics Dashboard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301984" y="643737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r>
              <a:rPr>
                <a:latin typeface="Arial"/>
              </a:rPr>
              <a:t>11</a:t>
            </a:r>
          </a:p>
        </p:txBody>
      </p:sp>
      <p:sp>
        <p:nvSpPr>
          <p:cNvPr id="8" name="Shape 6"/>
          <p:cNvSpPr/>
          <p:nvPr/>
        </p:nvSpPr>
        <p:spPr>
          <a:xfrm>
            <a:off x="585216" y="6336792"/>
            <a:ext cx="11027664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786384" y="1755648"/>
            <a:ext cx="2267712" cy="84124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786384" y="1755648"/>
            <a:ext cx="41148" cy="841248"/>
          </a:xfrm>
          <a:prstGeom prst="rect">
            <a:avLst/>
          </a:prstGeom>
          <a:solidFill>
            <a:srgbClr val="2F80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87552" y="1938528"/>
            <a:ext cx="1883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Датасет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987552" y="2267712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описание сущностей и полей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3483864" y="1755648"/>
            <a:ext cx="2267712" cy="84124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483864" y="1755648"/>
            <a:ext cx="41148" cy="841248"/>
          </a:xfrm>
          <a:prstGeom prst="rect">
            <a:avLst/>
          </a:prstGeom>
          <a:solidFill>
            <a:srgbClr val="2F80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685032" y="1938528"/>
            <a:ext cx="1883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r>
              <a:rPr>
                <a:latin typeface="Arial"/>
              </a:rPr>
              <a:t>Первичный анализ данных</a:t>
            </a:r>
          </a:p>
        </p:txBody>
      </p:sp>
      <p:sp>
        <p:nvSpPr>
          <p:cNvPr id="16" name="Text 14"/>
          <p:cNvSpPr/>
          <p:nvPr/>
        </p:nvSpPr>
        <p:spPr>
          <a:xfrm>
            <a:off x="3685032" y="2267712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проверка распределений и аномалий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6181344" y="1755648"/>
            <a:ext cx="2267712" cy="84124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181344" y="1755648"/>
            <a:ext cx="41148" cy="841248"/>
          </a:xfrm>
          <a:prstGeom prst="rect">
            <a:avLst/>
          </a:prstGeom>
          <a:solidFill>
            <a:srgbClr val="2F80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382512" y="1938528"/>
            <a:ext cx="1883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Признаки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6382512" y="2267712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выбор факторов рейтинга и риска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8878824" y="1755648"/>
            <a:ext cx="2267712" cy="84124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8878824" y="1755648"/>
            <a:ext cx="41148" cy="841248"/>
          </a:xfrm>
          <a:prstGeom prst="rect">
            <a:avLst/>
          </a:prstGeom>
          <a:solidFill>
            <a:srgbClr val="2F80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9079992" y="1938528"/>
            <a:ext cx="1883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Расчёт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9079992" y="2267712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итоговый балл и динамика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786384" y="2916936"/>
            <a:ext cx="2267712" cy="84124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786384" y="2916936"/>
            <a:ext cx="41148" cy="841248"/>
          </a:xfrm>
          <a:prstGeom prst="rect">
            <a:avLst/>
          </a:prstGeom>
          <a:solidFill>
            <a:srgbClr val="2F80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987552" y="3099816"/>
            <a:ext cx="1883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ML-прототип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987552" y="3429000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модель раннего сигнала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3483864" y="2916936"/>
            <a:ext cx="2267712" cy="84124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3483864" y="2916936"/>
            <a:ext cx="41148" cy="841248"/>
          </a:xfrm>
          <a:prstGeom prst="rect">
            <a:avLst/>
          </a:prstGeom>
          <a:solidFill>
            <a:srgbClr val="2F80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3685032" y="3099816"/>
            <a:ext cx="1883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Отчёты</a:t>
            </a:r>
            <a:endParaRPr lang="en-US" sz="1220" dirty="0"/>
          </a:p>
        </p:txBody>
      </p:sp>
      <p:sp>
        <p:nvSpPr>
          <p:cNvPr id="32" name="Text 30"/>
          <p:cNvSpPr/>
          <p:nvPr/>
        </p:nvSpPr>
        <p:spPr>
          <a:xfrm>
            <a:off x="3685032" y="3429000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структурированная выгрузка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6181344" y="2916936"/>
            <a:ext cx="2267712" cy="841248"/>
          </a:xfrm>
          <a:prstGeom prst="roundRect">
            <a:avLst>
              <a:gd name="adj" fmla="val 0"/>
            </a:avLst>
          </a:prstGeom>
          <a:solidFill>
            <a:srgbClr val="FFF8F8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6181344" y="2916936"/>
            <a:ext cx="41148" cy="841248"/>
          </a:xfrm>
          <a:prstGeom prst="rect">
            <a:avLst/>
          </a:prstGeom>
          <a:solidFill>
            <a:srgbClr val="D64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6382512" y="3099816"/>
            <a:ext cx="1883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Ограничения</a:t>
            </a:r>
            <a:endParaRPr lang="en-US" sz="1220" dirty="0"/>
          </a:p>
        </p:txBody>
      </p:sp>
      <p:sp>
        <p:nvSpPr>
          <p:cNvPr id="36" name="Text 34"/>
          <p:cNvSpPr/>
          <p:nvPr/>
        </p:nvSpPr>
        <p:spPr>
          <a:xfrm>
            <a:off x="6382512" y="3429000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синтетические данные зафиксированы честно</a:t>
            </a:r>
            <a:endParaRPr lang="en-US" sz="930" dirty="0"/>
          </a:p>
        </p:txBody>
      </p:sp>
      <p:sp>
        <p:nvSpPr>
          <p:cNvPr id="37" name="Shape 35"/>
          <p:cNvSpPr/>
          <p:nvPr/>
        </p:nvSpPr>
        <p:spPr>
          <a:xfrm>
            <a:off x="786384" y="5074920"/>
            <a:ext cx="10378440" cy="603504"/>
          </a:xfrm>
          <a:prstGeom prst="roundRect">
            <a:avLst/>
          </a:prstGeom>
          <a:solidFill>
            <a:srgbClr val="073763"/>
          </a:solidFill>
          <a:ln w="12700">
            <a:solidFill>
              <a:srgbClr val="07376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1051560" y="5285232"/>
            <a:ext cx="9857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70" b="1" dirty="0">
                <a:solidFill>
                  <a:srgbClr val="FFFFFF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Текущее ограничение прототипа: используются синтетические данные, потому что исторических реальных данных нет</a:t>
            </a:r>
            <a:endParaRPr lang="en-US" sz="107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29184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2F80ED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PRODUCT ARCHITECTURE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85216" y="62179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250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Архитектура продукта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899648" y="393192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>
                <a:latin typeface="Arial"/>
              </a:rPr>
              <a:t>12</a:t>
            </a:r>
          </a:p>
        </p:txBody>
      </p:sp>
      <p:sp>
        <p:nvSpPr>
          <p:cNvPr id="5" name="Shape 3"/>
          <p:cNvSpPr/>
          <p:nvPr/>
        </p:nvSpPr>
        <p:spPr>
          <a:xfrm>
            <a:off x="585216" y="1298448"/>
            <a:ext cx="11027664" cy="0"/>
          </a:xfrm>
          <a:prstGeom prst="line">
            <a:avLst/>
          </a:prstGeom>
          <a:noFill/>
          <a:ln w="8890">
            <a:solidFill>
              <a:srgbClr val="D7DE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85216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IBS — School Analytics Dashboard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301984" y="643737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r>
              <a:rPr>
                <a:latin typeface="Arial"/>
              </a:rPr>
              <a:t>12</a:t>
            </a:r>
          </a:p>
        </p:txBody>
      </p:sp>
      <p:sp>
        <p:nvSpPr>
          <p:cNvPr id="8" name="Shape 6"/>
          <p:cNvSpPr/>
          <p:nvPr/>
        </p:nvSpPr>
        <p:spPr>
          <a:xfrm>
            <a:off x="585216" y="6336792"/>
            <a:ext cx="11027664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76656" y="2148840"/>
            <a:ext cx="1325880" cy="105156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676656" y="2148840"/>
            <a:ext cx="41148" cy="1051560"/>
          </a:xfrm>
          <a:prstGeom prst="rect">
            <a:avLst/>
          </a:prstGeom>
          <a:solidFill>
            <a:srgbClr val="2F80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77824" y="2331720"/>
            <a:ext cx="995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r>
              <a:rPr sz="860" b="1" dirty="0" err="1">
                <a:solidFill>
                  <a:srgbClr val="073763"/>
                </a:solidFill>
                <a:latin typeface="Arial"/>
              </a:rPr>
              <a:t>Пользовательский</a:t>
            </a:r>
            <a:r>
              <a:rPr sz="860" b="1" dirty="0">
                <a:solidFill>
                  <a:srgbClr val="073763"/>
                </a:solidFill>
                <a:latin typeface="Arial"/>
              </a:rPr>
              <a:t> </a:t>
            </a:r>
            <a:r>
              <a:rPr sz="860" b="1" dirty="0" err="1">
                <a:solidFill>
                  <a:srgbClr val="073763"/>
                </a:solidFill>
                <a:latin typeface="Arial"/>
              </a:rPr>
              <a:t>интерфейс</a:t>
            </a:r>
            <a:endParaRPr sz="860" b="1" dirty="0">
              <a:solidFill>
                <a:srgbClr val="073763"/>
              </a:solidFill>
              <a:latin typeface="Arial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77824" y="2660904"/>
            <a:ext cx="9418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sz="880" b="0">
                <a:solidFill>
                  <a:srgbClr val="6B7280"/>
                </a:solidFill>
                <a:latin typeface="Arial"/>
              </a:rPr>
              <a:t>React, TypeScript, Vite</a:t>
            </a:r>
          </a:p>
        </p:txBody>
      </p:sp>
      <p:sp>
        <p:nvSpPr>
          <p:cNvPr id="13" name="Shape 11"/>
          <p:cNvSpPr/>
          <p:nvPr/>
        </p:nvSpPr>
        <p:spPr>
          <a:xfrm>
            <a:off x="2039112" y="2578608"/>
            <a:ext cx="201168" cy="137160"/>
          </a:xfrm>
          <a:prstGeom prst="chevron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2276856" y="2148840"/>
            <a:ext cx="1325880" cy="105156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2276856" y="2148840"/>
            <a:ext cx="41148" cy="1051560"/>
          </a:xfrm>
          <a:prstGeom prst="rect">
            <a:avLst/>
          </a:prstGeom>
          <a:solidFill>
            <a:srgbClr val="2F80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2478024" y="2331720"/>
            <a:ext cx="941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8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Backend API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2478024" y="2660904"/>
            <a:ext cx="9418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sz="880" b="0">
                <a:solidFill>
                  <a:srgbClr val="6B7280"/>
                </a:solidFill>
                <a:latin typeface="Arial"/>
              </a:rPr>
              <a:t>Node JS, Express</a:t>
            </a:r>
          </a:p>
        </p:txBody>
      </p:sp>
      <p:sp>
        <p:nvSpPr>
          <p:cNvPr id="18" name="Shape 16"/>
          <p:cNvSpPr/>
          <p:nvPr/>
        </p:nvSpPr>
        <p:spPr>
          <a:xfrm>
            <a:off x="3639312" y="2578608"/>
            <a:ext cx="201168" cy="137160"/>
          </a:xfrm>
          <a:prstGeom prst="chevron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3877056" y="2148840"/>
            <a:ext cx="1325880" cy="105156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3877056" y="2148840"/>
            <a:ext cx="41148" cy="1051560"/>
          </a:xfrm>
          <a:prstGeom prst="rect">
            <a:avLst/>
          </a:prstGeom>
          <a:solidFill>
            <a:srgbClr val="0B4F9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4078224" y="2331720"/>
            <a:ext cx="941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ru-RU" sz="108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Авторизация и роли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4078224" y="2660904"/>
            <a:ext cx="9418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sz="880" b="0">
                <a:solidFill>
                  <a:srgbClr val="6B7280"/>
                </a:solidFill>
                <a:latin typeface="Arial"/>
              </a:rPr>
              <a:t>JWT, bcrypt, права</a:t>
            </a:r>
          </a:p>
        </p:txBody>
      </p:sp>
      <p:sp>
        <p:nvSpPr>
          <p:cNvPr id="23" name="Shape 21"/>
          <p:cNvSpPr/>
          <p:nvPr/>
        </p:nvSpPr>
        <p:spPr>
          <a:xfrm>
            <a:off x="5239512" y="2578608"/>
            <a:ext cx="201168" cy="137160"/>
          </a:xfrm>
          <a:prstGeom prst="chevron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5477256" y="2148840"/>
            <a:ext cx="1325880" cy="105156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5477256" y="2148840"/>
            <a:ext cx="41148" cy="1051560"/>
          </a:xfrm>
          <a:prstGeom prst="rect">
            <a:avLst/>
          </a:prstGeom>
          <a:solidFill>
            <a:srgbClr val="2F80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5678424" y="2331720"/>
            <a:ext cx="941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ru-RU" sz="108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База данных</a:t>
            </a:r>
            <a:endParaRPr lang="en-US" sz="1220" dirty="0"/>
          </a:p>
        </p:txBody>
      </p:sp>
      <p:sp>
        <p:nvSpPr>
          <p:cNvPr id="27" name="Text 25"/>
          <p:cNvSpPr/>
          <p:nvPr/>
        </p:nvSpPr>
        <p:spPr>
          <a:xfrm>
            <a:off x="5678424" y="2660904"/>
            <a:ext cx="9418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880" b="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JSON в прототипе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6839712" y="2578608"/>
            <a:ext cx="201168" cy="137160"/>
          </a:xfrm>
          <a:prstGeom prst="chevron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7077456" y="2148840"/>
            <a:ext cx="1325880" cy="105156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7077456" y="2148840"/>
            <a:ext cx="41148" cy="1051560"/>
          </a:xfrm>
          <a:prstGeom prst="rect">
            <a:avLst/>
          </a:prstGeom>
          <a:solidFill>
            <a:srgbClr val="2F80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7278624" y="2331720"/>
            <a:ext cx="941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ru-RU" sz="1080" b="1" dirty="0" err="1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Рассчет</a:t>
            </a:r>
            <a:r>
              <a:rPr lang="ru-RU" sz="108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 рисков</a:t>
            </a:r>
            <a:endParaRPr lang="en-US" sz="1220" dirty="0"/>
          </a:p>
        </p:txBody>
      </p:sp>
      <p:sp>
        <p:nvSpPr>
          <p:cNvPr id="32" name="Text 30"/>
          <p:cNvSpPr/>
          <p:nvPr/>
        </p:nvSpPr>
        <p:spPr>
          <a:xfrm>
            <a:off x="7278624" y="2660904"/>
            <a:ext cx="9418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880" b="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рейтинги и риск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8439912" y="2578608"/>
            <a:ext cx="201168" cy="137160"/>
          </a:xfrm>
          <a:prstGeom prst="chevron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8677656" y="2148840"/>
            <a:ext cx="1325880" cy="105156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8677656" y="2148840"/>
            <a:ext cx="41148" cy="1051560"/>
          </a:xfrm>
          <a:prstGeom prst="rect">
            <a:avLst/>
          </a:prstGeom>
          <a:solidFill>
            <a:srgbClr val="2F80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8878824" y="2331720"/>
            <a:ext cx="941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ru-RU" sz="108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Отчеты</a:t>
            </a:r>
            <a:endParaRPr lang="en-US" sz="1220" dirty="0"/>
          </a:p>
        </p:txBody>
      </p:sp>
      <p:sp>
        <p:nvSpPr>
          <p:cNvPr id="37" name="Text 35"/>
          <p:cNvSpPr/>
          <p:nvPr/>
        </p:nvSpPr>
        <p:spPr>
          <a:xfrm>
            <a:off x="8878824" y="2660904"/>
            <a:ext cx="9418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sz="880" b="0">
                <a:solidFill>
                  <a:srgbClr val="6B7280"/>
                </a:solidFill>
                <a:latin typeface="Arial"/>
              </a:rPr>
              <a:t>ExcelJS, выгрузки</a:t>
            </a:r>
          </a:p>
        </p:txBody>
      </p:sp>
      <p:sp>
        <p:nvSpPr>
          <p:cNvPr id="38" name="Shape 36"/>
          <p:cNvSpPr/>
          <p:nvPr/>
        </p:nvSpPr>
        <p:spPr>
          <a:xfrm>
            <a:off x="10040112" y="2578608"/>
            <a:ext cx="201168" cy="137160"/>
          </a:xfrm>
          <a:prstGeom prst="chevron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10277856" y="2148840"/>
            <a:ext cx="1325880" cy="105156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10277856" y="2148840"/>
            <a:ext cx="41148" cy="1051560"/>
          </a:xfrm>
          <a:prstGeom prst="rect">
            <a:avLst/>
          </a:prstGeom>
          <a:solidFill>
            <a:srgbClr val="2F80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10479024" y="2331720"/>
            <a:ext cx="941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ru-RU" sz="108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Аудит</a:t>
            </a:r>
            <a:endParaRPr lang="en-US" sz="1220" dirty="0"/>
          </a:p>
        </p:txBody>
      </p:sp>
      <p:sp>
        <p:nvSpPr>
          <p:cNvPr id="42" name="Text 40"/>
          <p:cNvSpPr/>
          <p:nvPr/>
        </p:nvSpPr>
        <p:spPr>
          <a:xfrm>
            <a:off x="10479024" y="2660904"/>
            <a:ext cx="9418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880" b="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журнал действий</a:t>
            </a:r>
            <a:endParaRPr lang="en-US" sz="930" dirty="0"/>
          </a:p>
        </p:txBody>
      </p:sp>
      <p:sp>
        <p:nvSpPr>
          <p:cNvPr id="43" name="Shape 41"/>
          <p:cNvSpPr/>
          <p:nvPr/>
        </p:nvSpPr>
        <p:spPr>
          <a:xfrm>
            <a:off x="786384" y="4078224"/>
            <a:ext cx="10332720" cy="566928"/>
          </a:xfrm>
          <a:prstGeom prst="rect">
            <a:avLst/>
          </a:prstGeom>
          <a:solidFill>
            <a:srgbClr val="EAF2FF"/>
          </a:solidFill>
          <a:ln w="6350">
            <a:solidFill>
              <a:srgbClr val="DCEB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1024128" y="4270248"/>
            <a:ext cx="9784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20" b="1" dirty="0">
                <a:solidFill>
                  <a:srgbClr val="073763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Архитектура показывает рабочий веб-прототип, который можно развивать без смены всей логики продукта</a:t>
            </a:r>
            <a:endParaRPr lang="en-US" sz="1120" dirty="0"/>
          </a:p>
        </p:txBody>
      </p:sp>
      <p:sp>
        <p:nvSpPr>
          <p:cNvPr id="45" name="Shape 43"/>
          <p:cNvSpPr/>
          <p:nvPr/>
        </p:nvSpPr>
        <p:spPr>
          <a:xfrm>
            <a:off x="786384" y="4992624"/>
            <a:ext cx="3108960" cy="594360"/>
          </a:xfrm>
          <a:prstGeom prst="roundRect">
            <a:avLst>
              <a:gd name="adj" fmla="val 0"/>
            </a:avLst>
          </a:prstGeom>
          <a:solidFill>
            <a:srgbClr val="F3F5F7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Shape 44"/>
          <p:cNvSpPr/>
          <p:nvPr/>
        </p:nvSpPr>
        <p:spPr>
          <a:xfrm>
            <a:off x="786384" y="4992624"/>
            <a:ext cx="41148" cy="594360"/>
          </a:xfrm>
          <a:prstGeom prst="rect">
            <a:avLst/>
          </a:prstGeom>
          <a:solidFill>
            <a:srgbClr val="2F80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987552" y="5175504"/>
            <a:ext cx="2724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Текущий уровень</a:t>
            </a:r>
            <a:endParaRPr lang="en-US" sz="1220" dirty="0"/>
          </a:p>
        </p:txBody>
      </p:sp>
      <p:sp>
        <p:nvSpPr>
          <p:cNvPr id="49" name="Shape 47"/>
          <p:cNvSpPr/>
          <p:nvPr/>
        </p:nvSpPr>
        <p:spPr>
          <a:xfrm>
            <a:off x="4352544" y="4992624"/>
            <a:ext cx="3108960" cy="594360"/>
          </a:xfrm>
          <a:prstGeom prst="roundRect">
            <a:avLst>
              <a:gd name="adj" fmla="val 0"/>
            </a:avLst>
          </a:prstGeom>
          <a:solidFill>
            <a:srgbClr val="F3F5F7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Shape 48"/>
          <p:cNvSpPr/>
          <p:nvPr/>
        </p:nvSpPr>
        <p:spPr>
          <a:xfrm>
            <a:off x="4352544" y="4992624"/>
            <a:ext cx="41148" cy="594360"/>
          </a:xfrm>
          <a:prstGeom prst="rect">
            <a:avLst/>
          </a:prstGeom>
          <a:solidFill>
            <a:srgbClr val="0B4F9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9"/>
          <p:cNvSpPr/>
          <p:nvPr/>
        </p:nvSpPr>
        <p:spPr>
          <a:xfrm>
            <a:off x="4553712" y="5175504"/>
            <a:ext cx="2724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Следующий уровень</a:t>
            </a:r>
            <a:endParaRPr lang="en-US" sz="1220" dirty="0"/>
          </a:p>
        </p:txBody>
      </p:sp>
      <p:sp>
        <p:nvSpPr>
          <p:cNvPr id="53" name="Shape 51"/>
          <p:cNvSpPr/>
          <p:nvPr/>
        </p:nvSpPr>
        <p:spPr>
          <a:xfrm>
            <a:off x="7918704" y="4992624"/>
            <a:ext cx="3108960" cy="594360"/>
          </a:xfrm>
          <a:prstGeom prst="roundRect">
            <a:avLst>
              <a:gd name="adj" fmla="val 0"/>
            </a:avLst>
          </a:prstGeom>
          <a:solidFill>
            <a:srgbClr val="F3F5F7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Shape 52"/>
          <p:cNvSpPr/>
          <p:nvPr/>
        </p:nvSpPr>
        <p:spPr>
          <a:xfrm>
            <a:off x="7918704" y="4992624"/>
            <a:ext cx="41148" cy="594360"/>
          </a:xfrm>
          <a:prstGeom prst="rect">
            <a:avLst/>
          </a:prstGeom>
          <a:solidFill>
            <a:srgbClr val="13A3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53"/>
          <p:cNvSpPr/>
          <p:nvPr/>
        </p:nvSpPr>
        <p:spPr>
          <a:xfrm>
            <a:off x="8119872" y="5175504"/>
            <a:ext cx="2724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Целевой уровень</a:t>
            </a:r>
            <a:endParaRPr lang="en-US" sz="1220" dirty="0"/>
          </a:p>
        </p:txBody>
      </p:sp>
      <p:cxnSp>
        <p:nvCxnSpPr>
          <p:cNvPr id="58" name="Прямая со стрелкой 57">
            <a:extLst>
              <a:ext uri="{FF2B5EF4-FFF2-40B4-BE49-F238E27FC236}">
                <a16:creationId xmlns:a16="http://schemas.microsoft.com/office/drawing/2014/main" id="{AF3401CA-1AB2-F942-F4A7-ADFC2C59944F}"/>
              </a:ext>
            </a:extLst>
          </p:cNvPr>
          <p:cNvCxnSpPr>
            <a:stCxn id="45" idx="3"/>
            <a:endCxn id="49" idx="1"/>
          </p:cNvCxnSpPr>
          <p:nvPr/>
        </p:nvCxnSpPr>
        <p:spPr>
          <a:xfrm>
            <a:off x="3895344" y="5289804"/>
            <a:ext cx="457200" cy="0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 стрелкой 58">
            <a:extLst>
              <a:ext uri="{FF2B5EF4-FFF2-40B4-BE49-F238E27FC236}">
                <a16:creationId xmlns:a16="http://schemas.microsoft.com/office/drawing/2014/main" id="{034A6A23-1F9D-DC48-7116-A06A39768D75}"/>
              </a:ext>
            </a:extLst>
          </p:cNvPr>
          <p:cNvCxnSpPr>
            <a:cxnSpLocks/>
            <a:stCxn id="49" idx="3"/>
            <a:endCxn id="54" idx="1"/>
          </p:cNvCxnSpPr>
          <p:nvPr/>
        </p:nvCxnSpPr>
        <p:spPr>
          <a:xfrm>
            <a:off x="7461504" y="5289804"/>
            <a:ext cx="457200" cy="0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29184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2F80ED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ACCESS MODEL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85216" y="62179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250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Безопасность и ролевой доступ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899648" y="393192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>
                <a:latin typeface="Arial"/>
              </a:rPr>
              <a:t>13</a:t>
            </a:r>
          </a:p>
        </p:txBody>
      </p:sp>
      <p:sp>
        <p:nvSpPr>
          <p:cNvPr id="5" name="Shape 3"/>
          <p:cNvSpPr/>
          <p:nvPr/>
        </p:nvSpPr>
        <p:spPr>
          <a:xfrm>
            <a:off x="585216" y="1298448"/>
            <a:ext cx="11027664" cy="0"/>
          </a:xfrm>
          <a:prstGeom prst="line">
            <a:avLst/>
          </a:prstGeom>
          <a:noFill/>
          <a:ln w="8890">
            <a:solidFill>
              <a:srgbClr val="D7DE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85216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IBS — School Analytics Dashboard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301984" y="643737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r>
              <a:rPr>
                <a:latin typeface="Arial"/>
              </a:rPr>
              <a:t>13</a:t>
            </a:r>
          </a:p>
        </p:txBody>
      </p:sp>
      <p:sp>
        <p:nvSpPr>
          <p:cNvPr id="8" name="Shape 6"/>
          <p:cNvSpPr/>
          <p:nvPr/>
        </p:nvSpPr>
        <p:spPr>
          <a:xfrm>
            <a:off x="585216" y="6336792"/>
            <a:ext cx="11027664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786384" y="1700784"/>
            <a:ext cx="1920240" cy="329184"/>
          </a:xfrm>
          <a:prstGeom prst="rect">
            <a:avLst/>
          </a:prstGeom>
          <a:solidFill>
            <a:srgbClr val="073763"/>
          </a:solidFill>
          <a:ln w="12700">
            <a:solidFill>
              <a:srgbClr val="07376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59536" y="1796796"/>
            <a:ext cx="17739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Роль</a:t>
            </a:r>
            <a:endParaRPr lang="en-US" sz="760" dirty="0"/>
          </a:p>
        </p:txBody>
      </p:sp>
      <p:sp>
        <p:nvSpPr>
          <p:cNvPr id="11" name="Shape 9"/>
          <p:cNvSpPr/>
          <p:nvPr/>
        </p:nvSpPr>
        <p:spPr>
          <a:xfrm>
            <a:off x="2706624" y="1700784"/>
            <a:ext cx="1371600" cy="329184"/>
          </a:xfrm>
          <a:prstGeom prst="rect">
            <a:avLst/>
          </a:prstGeom>
          <a:solidFill>
            <a:srgbClr val="073763"/>
          </a:solidFill>
          <a:ln w="12700">
            <a:solidFill>
              <a:srgbClr val="07376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2779776" y="1796796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Сводка</a:t>
            </a:r>
            <a:endParaRPr lang="en-US" sz="760" dirty="0"/>
          </a:p>
        </p:txBody>
      </p:sp>
      <p:sp>
        <p:nvSpPr>
          <p:cNvPr id="13" name="Shape 11"/>
          <p:cNvSpPr/>
          <p:nvPr/>
        </p:nvSpPr>
        <p:spPr>
          <a:xfrm>
            <a:off x="4078224" y="1700784"/>
            <a:ext cx="1371600" cy="329184"/>
          </a:xfrm>
          <a:prstGeom prst="rect">
            <a:avLst/>
          </a:prstGeom>
          <a:solidFill>
            <a:srgbClr val="073763"/>
          </a:solidFill>
          <a:ln w="12700">
            <a:solidFill>
              <a:srgbClr val="07376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151376" y="1796796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Классы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5449824" y="1700784"/>
            <a:ext cx="1371600" cy="329184"/>
          </a:xfrm>
          <a:prstGeom prst="rect">
            <a:avLst/>
          </a:prstGeom>
          <a:solidFill>
            <a:srgbClr val="073763"/>
          </a:solidFill>
          <a:ln w="12700">
            <a:solidFill>
              <a:srgbClr val="07376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5522976" y="1796796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Ученики</a:t>
            </a:r>
            <a:endParaRPr lang="en-US" sz="760" dirty="0"/>
          </a:p>
        </p:txBody>
      </p:sp>
      <p:sp>
        <p:nvSpPr>
          <p:cNvPr id="17" name="Shape 15"/>
          <p:cNvSpPr/>
          <p:nvPr/>
        </p:nvSpPr>
        <p:spPr>
          <a:xfrm>
            <a:off x="6821424" y="1700784"/>
            <a:ext cx="1371600" cy="329184"/>
          </a:xfrm>
          <a:prstGeom prst="rect">
            <a:avLst/>
          </a:prstGeom>
          <a:solidFill>
            <a:srgbClr val="073763"/>
          </a:solidFill>
          <a:ln w="12700">
            <a:solidFill>
              <a:srgbClr val="07376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894576" y="1796796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Отчёты</a:t>
            </a:r>
            <a:endParaRPr lang="en-US" sz="760" dirty="0"/>
          </a:p>
        </p:txBody>
      </p:sp>
      <p:sp>
        <p:nvSpPr>
          <p:cNvPr id="19" name="Shape 17"/>
          <p:cNvSpPr/>
          <p:nvPr/>
        </p:nvSpPr>
        <p:spPr>
          <a:xfrm>
            <a:off x="8193024" y="1700784"/>
            <a:ext cx="1371600" cy="329184"/>
          </a:xfrm>
          <a:prstGeom prst="rect">
            <a:avLst/>
          </a:prstGeom>
          <a:solidFill>
            <a:srgbClr val="073763"/>
          </a:solidFill>
          <a:ln w="12700">
            <a:solidFill>
              <a:srgbClr val="07376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8266176" y="1796796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Пользователи</a:t>
            </a:r>
            <a:endParaRPr lang="en-US" sz="760" dirty="0"/>
          </a:p>
        </p:txBody>
      </p:sp>
      <p:sp>
        <p:nvSpPr>
          <p:cNvPr id="21" name="Shape 19"/>
          <p:cNvSpPr/>
          <p:nvPr/>
        </p:nvSpPr>
        <p:spPr>
          <a:xfrm>
            <a:off x="9564624" y="1700784"/>
            <a:ext cx="1371600" cy="329184"/>
          </a:xfrm>
          <a:prstGeom prst="rect">
            <a:avLst/>
          </a:prstGeom>
          <a:solidFill>
            <a:srgbClr val="073763"/>
          </a:solidFill>
          <a:ln w="12700">
            <a:solidFill>
              <a:srgbClr val="07376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9637776" y="1796796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Журнал</a:t>
            </a:r>
            <a:endParaRPr lang="en-US" sz="760" dirty="0"/>
          </a:p>
        </p:txBody>
      </p:sp>
      <p:sp>
        <p:nvSpPr>
          <p:cNvPr id="23" name="Shape 21"/>
          <p:cNvSpPr/>
          <p:nvPr/>
        </p:nvSpPr>
        <p:spPr>
          <a:xfrm>
            <a:off x="786384" y="2029968"/>
            <a:ext cx="192024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859536" y="2125980"/>
            <a:ext cx="17739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073763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Директор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706624" y="2029968"/>
            <a:ext cx="137160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2779776" y="2125980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00" dirty="0">
                <a:solidFill>
                  <a:srgbClr val="111827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078224" y="2029968"/>
            <a:ext cx="137160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4151376" y="2125980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00" dirty="0">
                <a:solidFill>
                  <a:srgbClr val="111827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49824" y="2029968"/>
            <a:ext cx="137160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5522976" y="2125980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40000" lnSpcReduction="20000"/>
          </a:bodyPr>
          <a:lstStyle/>
          <a:p>
            <a:r>
              <a:rPr lang="en-US" dirty="0">
                <a:solidFill>
                  <a:srgbClr val="111827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✓</a:t>
            </a:r>
            <a:endParaRPr dirty="0">
              <a:latin typeface="Arial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821424" y="2029968"/>
            <a:ext cx="137160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6894576" y="2125980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00" dirty="0">
                <a:solidFill>
                  <a:srgbClr val="111827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8193024" y="2029968"/>
            <a:ext cx="137160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8266176" y="2125980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00" dirty="0">
                <a:solidFill>
                  <a:srgbClr val="111827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9564624" y="2029968"/>
            <a:ext cx="137160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9637776" y="2125980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00" dirty="0">
                <a:solidFill>
                  <a:srgbClr val="111827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просмотр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86384" y="2423160"/>
            <a:ext cx="1920240" cy="356616"/>
          </a:xfrm>
          <a:prstGeom prst="rect">
            <a:avLst/>
          </a:prstGeom>
          <a:solidFill>
            <a:srgbClr val="F8FAFC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859536" y="2519172"/>
            <a:ext cx="17739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073763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Завуч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706624" y="2423160"/>
            <a:ext cx="1371600" cy="356616"/>
          </a:xfrm>
          <a:prstGeom prst="rect">
            <a:avLst/>
          </a:prstGeom>
          <a:solidFill>
            <a:srgbClr val="F8FAFC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2779776" y="2519172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00" dirty="0">
                <a:solidFill>
                  <a:srgbClr val="111827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078224" y="2423160"/>
            <a:ext cx="1371600" cy="356616"/>
          </a:xfrm>
          <a:prstGeom prst="rect">
            <a:avLst/>
          </a:prstGeom>
          <a:solidFill>
            <a:srgbClr val="F8FAFC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4151376" y="2519172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00" dirty="0">
                <a:solidFill>
                  <a:srgbClr val="111827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449824" y="2423160"/>
            <a:ext cx="1371600" cy="356616"/>
          </a:xfrm>
          <a:prstGeom prst="rect">
            <a:avLst/>
          </a:prstGeom>
          <a:solidFill>
            <a:srgbClr val="F8FAFC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5522976" y="2519172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00" dirty="0">
                <a:solidFill>
                  <a:srgbClr val="111827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821424" y="2423160"/>
            <a:ext cx="1371600" cy="356616"/>
          </a:xfrm>
          <a:prstGeom prst="rect">
            <a:avLst/>
          </a:prstGeom>
          <a:solidFill>
            <a:srgbClr val="F8FAFC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6894576" y="2519172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00" dirty="0">
                <a:solidFill>
                  <a:srgbClr val="111827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8193024" y="2423160"/>
            <a:ext cx="1371600" cy="356616"/>
          </a:xfrm>
          <a:prstGeom prst="rect">
            <a:avLst/>
          </a:prstGeom>
          <a:solidFill>
            <a:srgbClr val="F8FAFC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8266176" y="2519172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00" dirty="0">
                <a:solidFill>
                  <a:srgbClr val="111827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9564624" y="2423160"/>
            <a:ext cx="1371600" cy="356616"/>
          </a:xfrm>
          <a:prstGeom prst="rect">
            <a:avLst/>
          </a:prstGeom>
          <a:solidFill>
            <a:srgbClr val="F8FAFC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9637776" y="2519172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00" dirty="0">
                <a:solidFill>
                  <a:srgbClr val="111827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786384" y="2816352"/>
            <a:ext cx="192024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859536" y="2912364"/>
            <a:ext cx="17739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073763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Учитель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706624" y="2816352"/>
            <a:ext cx="137160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Text 52"/>
          <p:cNvSpPr/>
          <p:nvPr/>
        </p:nvSpPr>
        <p:spPr>
          <a:xfrm>
            <a:off x="2779776" y="2912364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00" dirty="0">
                <a:solidFill>
                  <a:srgbClr val="111827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078224" y="2816352"/>
            <a:ext cx="137160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4"/>
          <p:cNvSpPr/>
          <p:nvPr/>
        </p:nvSpPr>
        <p:spPr>
          <a:xfrm>
            <a:off x="4151376" y="2912364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00" dirty="0">
                <a:solidFill>
                  <a:srgbClr val="111827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свои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449824" y="2816352"/>
            <a:ext cx="137160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Text 56"/>
          <p:cNvSpPr/>
          <p:nvPr/>
        </p:nvSpPr>
        <p:spPr>
          <a:xfrm>
            <a:off x="5522976" y="2912364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00" dirty="0">
                <a:solidFill>
                  <a:srgbClr val="111827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свои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6821424" y="2816352"/>
            <a:ext cx="137160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Text 58"/>
          <p:cNvSpPr/>
          <p:nvPr/>
        </p:nvSpPr>
        <p:spPr>
          <a:xfrm>
            <a:off x="6894576" y="2912364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00" dirty="0">
                <a:solidFill>
                  <a:srgbClr val="111827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частично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8193024" y="2816352"/>
            <a:ext cx="137160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Text 60"/>
          <p:cNvSpPr/>
          <p:nvPr/>
        </p:nvSpPr>
        <p:spPr>
          <a:xfrm>
            <a:off x="8266176" y="2912364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00" dirty="0">
                <a:solidFill>
                  <a:srgbClr val="111827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9564624" y="2816352"/>
            <a:ext cx="137160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Text 62"/>
          <p:cNvSpPr/>
          <p:nvPr/>
        </p:nvSpPr>
        <p:spPr>
          <a:xfrm>
            <a:off x="9637776" y="2912364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00" dirty="0">
                <a:solidFill>
                  <a:srgbClr val="111827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786384" y="3209544"/>
            <a:ext cx="1920240" cy="356616"/>
          </a:xfrm>
          <a:prstGeom prst="rect">
            <a:avLst/>
          </a:prstGeom>
          <a:solidFill>
            <a:srgbClr val="F8FAFC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Text 64"/>
          <p:cNvSpPr/>
          <p:nvPr/>
        </p:nvSpPr>
        <p:spPr>
          <a:xfrm>
            <a:off x="859536" y="3305556"/>
            <a:ext cx="17739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073763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Аналитик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2706624" y="3209544"/>
            <a:ext cx="1371600" cy="356616"/>
          </a:xfrm>
          <a:prstGeom prst="rect">
            <a:avLst/>
          </a:prstGeom>
          <a:solidFill>
            <a:srgbClr val="F8FAFC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Text 66"/>
          <p:cNvSpPr/>
          <p:nvPr/>
        </p:nvSpPr>
        <p:spPr>
          <a:xfrm>
            <a:off x="2779776" y="3305556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00" dirty="0">
                <a:solidFill>
                  <a:srgbClr val="111827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4078224" y="3209544"/>
            <a:ext cx="1371600" cy="356616"/>
          </a:xfrm>
          <a:prstGeom prst="rect">
            <a:avLst/>
          </a:prstGeom>
          <a:solidFill>
            <a:srgbClr val="F8FAFC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" name="Text 68"/>
          <p:cNvSpPr/>
          <p:nvPr/>
        </p:nvSpPr>
        <p:spPr>
          <a:xfrm>
            <a:off x="4151376" y="3305556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00" dirty="0">
                <a:solidFill>
                  <a:srgbClr val="111827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5449824" y="3209544"/>
            <a:ext cx="1371600" cy="356616"/>
          </a:xfrm>
          <a:prstGeom prst="rect">
            <a:avLst/>
          </a:prstGeom>
          <a:solidFill>
            <a:srgbClr val="F8FAFC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" name="Text 70"/>
          <p:cNvSpPr/>
          <p:nvPr/>
        </p:nvSpPr>
        <p:spPr>
          <a:xfrm>
            <a:off x="5522976" y="3305556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00" dirty="0">
                <a:solidFill>
                  <a:srgbClr val="111827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6821424" y="3209544"/>
            <a:ext cx="1371600" cy="356616"/>
          </a:xfrm>
          <a:prstGeom prst="rect">
            <a:avLst/>
          </a:prstGeom>
          <a:solidFill>
            <a:srgbClr val="F8FAFC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Text 72"/>
          <p:cNvSpPr/>
          <p:nvPr/>
        </p:nvSpPr>
        <p:spPr>
          <a:xfrm>
            <a:off x="6894576" y="3305556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00" dirty="0">
                <a:solidFill>
                  <a:srgbClr val="111827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8193024" y="3209544"/>
            <a:ext cx="1371600" cy="356616"/>
          </a:xfrm>
          <a:prstGeom prst="rect">
            <a:avLst/>
          </a:prstGeom>
          <a:solidFill>
            <a:srgbClr val="F8FAFC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" name="Text 74"/>
          <p:cNvSpPr/>
          <p:nvPr/>
        </p:nvSpPr>
        <p:spPr>
          <a:xfrm>
            <a:off x="8266176" y="3305556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00" dirty="0">
                <a:solidFill>
                  <a:srgbClr val="111827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9564624" y="3209544"/>
            <a:ext cx="1371600" cy="356616"/>
          </a:xfrm>
          <a:prstGeom prst="rect">
            <a:avLst/>
          </a:prstGeom>
          <a:solidFill>
            <a:srgbClr val="F8FAFC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8" name="Text 76"/>
          <p:cNvSpPr/>
          <p:nvPr/>
        </p:nvSpPr>
        <p:spPr>
          <a:xfrm>
            <a:off x="9637776" y="3305556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00" dirty="0">
                <a:solidFill>
                  <a:srgbClr val="111827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786384" y="3602736"/>
            <a:ext cx="192024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0" name="Text 78"/>
          <p:cNvSpPr/>
          <p:nvPr/>
        </p:nvSpPr>
        <p:spPr>
          <a:xfrm>
            <a:off x="859536" y="3698748"/>
            <a:ext cx="17739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40000" lnSpcReduction="20000"/>
          </a:bodyPr>
          <a:lstStyle/>
          <a:p>
            <a:r>
              <a:rPr>
                <a:latin typeface="Arial"/>
              </a:rPr>
              <a:t>Ученик</a:t>
            </a:r>
          </a:p>
        </p:txBody>
      </p:sp>
      <p:sp>
        <p:nvSpPr>
          <p:cNvPr id="81" name="Shape 79"/>
          <p:cNvSpPr/>
          <p:nvPr/>
        </p:nvSpPr>
        <p:spPr>
          <a:xfrm>
            <a:off x="2706624" y="3602736"/>
            <a:ext cx="137160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2" name="Text 80"/>
          <p:cNvSpPr/>
          <p:nvPr/>
        </p:nvSpPr>
        <p:spPr>
          <a:xfrm>
            <a:off x="2779776" y="3698748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40000" lnSpcReduction="20000"/>
          </a:bodyPr>
          <a:lstStyle/>
          <a:p>
            <a:r>
              <a:rPr>
                <a:latin typeface="Arial"/>
              </a:rPr>
              <a:t>—</a:t>
            </a:r>
          </a:p>
        </p:txBody>
      </p:sp>
      <p:sp>
        <p:nvSpPr>
          <p:cNvPr id="83" name="Shape 81"/>
          <p:cNvSpPr/>
          <p:nvPr/>
        </p:nvSpPr>
        <p:spPr>
          <a:xfrm>
            <a:off x="4078224" y="3602736"/>
            <a:ext cx="137160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" name="Text 82"/>
          <p:cNvSpPr/>
          <p:nvPr/>
        </p:nvSpPr>
        <p:spPr>
          <a:xfrm>
            <a:off x="4151376" y="3698748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40000" lnSpcReduction="20000"/>
          </a:bodyPr>
          <a:lstStyle/>
          <a:p>
            <a:r>
              <a:rPr>
                <a:latin typeface="Arial"/>
              </a:rPr>
              <a:t>—</a:t>
            </a:r>
          </a:p>
        </p:txBody>
      </p:sp>
      <p:sp>
        <p:nvSpPr>
          <p:cNvPr id="85" name="Shape 83"/>
          <p:cNvSpPr/>
          <p:nvPr/>
        </p:nvSpPr>
        <p:spPr>
          <a:xfrm>
            <a:off x="5449824" y="3602736"/>
            <a:ext cx="137160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6" name="Text 84"/>
          <p:cNvSpPr/>
          <p:nvPr/>
        </p:nvSpPr>
        <p:spPr>
          <a:xfrm>
            <a:off x="5522976" y="3698748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40000" lnSpcReduction="20000"/>
          </a:bodyPr>
          <a:lstStyle/>
          <a:p>
            <a:r>
              <a:rPr>
                <a:latin typeface="Arial"/>
              </a:rPr>
              <a:t>лично</a:t>
            </a:r>
          </a:p>
        </p:txBody>
      </p:sp>
      <p:sp>
        <p:nvSpPr>
          <p:cNvPr id="87" name="Shape 85"/>
          <p:cNvSpPr/>
          <p:nvPr/>
        </p:nvSpPr>
        <p:spPr>
          <a:xfrm>
            <a:off x="6821424" y="3602736"/>
            <a:ext cx="137160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8" name="Text 86"/>
          <p:cNvSpPr/>
          <p:nvPr/>
        </p:nvSpPr>
        <p:spPr>
          <a:xfrm>
            <a:off x="6894576" y="3698748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40000" lnSpcReduction="20000"/>
          </a:bodyPr>
          <a:lstStyle/>
          <a:p>
            <a:r>
              <a:rPr>
                <a:latin typeface="Arial"/>
              </a:rPr>
              <a:t>—</a:t>
            </a:r>
          </a:p>
        </p:txBody>
      </p:sp>
      <p:sp>
        <p:nvSpPr>
          <p:cNvPr id="89" name="Shape 87"/>
          <p:cNvSpPr/>
          <p:nvPr/>
        </p:nvSpPr>
        <p:spPr>
          <a:xfrm>
            <a:off x="8193024" y="3602736"/>
            <a:ext cx="137160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0" name="Text 88"/>
          <p:cNvSpPr/>
          <p:nvPr/>
        </p:nvSpPr>
        <p:spPr>
          <a:xfrm>
            <a:off x="8266176" y="3698748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40000" lnSpcReduction="20000"/>
          </a:bodyPr>
          <a:lstStyle/>
          <a:p>
            <a:r>
              <a:rPr>
                <a:latin typeface="Arial"/>
              </a:rPr>
              <a:t>—</a:t>
            </a:r>
          </a:p>
        </p:txBody>
      </p:sp>
      <p:sp>
        <p:nvSpPr>
          <p:cNvPr id="91" name="Shape 89"/>
          <p:cNvSpPr/>
          <p:nvPr/>
        </p:nvSpPr>
        <p:spPr>
          <a:xfrm>
            <a:off x="9564624" y="3602736"/>
            <a:ext cx="137160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2" name="Text 90"/>
          <p:cNvSpPr/>
          <p:nvPr/>
        </p:nvSpPr>
        <p:spPr>
          <a:xfrm>
            <a:off x="9637776" y="3698748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40000" lnSpcReduction="20000"/>
          </a:bodyPr>
          <a:lstStyle/>
          <a:p>
            <a:r>
              <a:rPr>
                <a:latin typeface="Arial"/>
              </a:rPr>
              <a:t>—</a:t>
            </a:r>
          </a:p>
        </p:txBody>
      </p:sp>
      <p:sp>
        <p:nvSpPr>
          <p:cNvPr id="93" name="Shape 91"/>
          <p:cNvSpPr/>
          <p:nvPr/>
        </p:nvSpPr>
        <p:spPr>
          <a:xfrm>
            <a:off x="786384" y="3995928"/>
            <a:ext cx="1920240" cy="356616"/>
          </a:xfrm>
          <a:prstGeom prst="rect">
            <a:avLst/>
          </a:prstGeom>
          <a:solidFill>
            <a:srgbClr val="F8FAFC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4" name="Text 92"/>
          <p:cNvSpPr/>
          <p:nvPr/>
        </p:nvSpPr>
        <p:spPr>
          <a:xfrm>
            <a:off x="859536" y="4091940"/>
            <a:ext cx="17739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40000" lnSpcReduction="20000"/>
          </a:bodyPr>
          <a:lstStyle/>
          <a:p>
            <a:r>
              <a:rPr>
                <a:latin typeface="Arial"/>
              </a:rPr>
              <a:t>Администратор</a:t>
            </a:r>
          </a:p>
        </p:txBody>
      </p:sp>
      <p:sp>
        <p:nvSpPr>
          <p:cNvPr id="95" name="Shape 93"/>
          <p:cNvSpPr/>
          <p:nvPr/>
        </p:nvSpPr>
        <p:spPr>
          <a:xfrm>
            <a:off x="2706624" y="3995928"/>
            <a:ext cx="1371600" cy="356616"/>
          </a:xfrm>
          <a:prstGeom prst="rect">
            <a:avLst/>
          </a:prstGeom>
          <a:solidFill>
            <a:srgbClr val="F8FAFC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6" name="Text 94"/>
          <p:cNvSpPr/>
          <p:nvPr/>
        </p:nvSpPr>
        <p:spPr>
          <a:xfrm>
            <a:off x="2779776" y="4091940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40000" lnSpcReduction="20000"/>
          </a:bodyPr>
          <a:lstStyle/>
          <a:p>
            <a:r>
              <a:rPr>
                <a:latin typeface="Arial"/>
              </a:rPr>
              <a:t>—</a:t>
            </a:r>
          </a:p>
        </p:txBody>
      </p:sp>
      <p:sp>
        <p:nvSpPr>
          <p:cNvPr id="97" name="Shape 95"/>
          <p:cNvSpPr/>
          <p:nvPr/>
        </p:nvSpPr>
        <p:spPr>
          <a:xfrm>
            <a:off x="4078224" y="3995928"/>
            <a:ext cx="1371600" cy="356616"/>
          </a:xfrm>
          <a:prstGeom prst="rect">
            <a:avLst/>
          </a:prstGeom>
          <a:solidFill>
            <a:srgbClr val="F8FAFC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8" name="Text 96"/>
          <p:cNvSpPr/>
          <p:nvPr/>
        </p:nvSpPr>
        <p:spPr>
          <a:xfrm>
            <a:off x="4151376" y="4091940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40000" lnSpcReduction="20000"/>
          </a:bodyPr>
          <a:lstStyle/>
          <a:p>
            <a:r>
              <a:rPr>
                <a:latin typeface="Arial"/>
              </a:rPr>
              <a:t>—</a:t>
            </a:r>
          </a:p>
        </p:txBody>
      </p:sp>
      <p:sp>
        <p:nvSpPr>
          <p:cNvPr id="99" name="Shape 97"/>
          <p:cNvSpPr/>
          <p:nvPr/>
        </p:nvSpPr>
        <p:spPr>
          <a:xfrm>
            <a:off x="5449824" y="3995928"/>
            <a:ext cx="1371600" cy="356616"/>
          </a:xfrm>
          <a:prstGeom prst="rect">
            <a:avLst/>
          </a:prstGeom>
          <a:solidFill>
            <a:srgbClr val="F8FAFC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0" name="Text 98"/>
          <p:cNvSpPr/>
          <p:nvPr/>
        </p:nvSpPr>
        <p:spPr>
          <a:xfrm>
            <a:off x="5522976" y="4091940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40000" lnSpcReduction="20000"/>
          </a:bodyPr>
          <a:lstStyle/>
          <a:p>
            <a:r>
              <a:rPr>
                <a:latin typeface="Arial"/>
              </a:rPr>
              <a:t>—</a:t>
            </a:r>
          </a:p>
        </p:txBody>
      </p:sp>
      <p:sp>
        <p:nvSpPr>
          <p:cNvPr id="101" name="Shape 99"/>
          <p:cNvSpPr/>
          <p:nvPr/>
        </p:nvSpPr>
        <p:spPr>
          <a:xfrm>
            <a:off x="6821424" y="3995928"/>
            <a:ext cx="1371600" cy="356616"/>
          </a:xfrm>
          <a:prstGeom prst="rect">
            <a:avLst/>
          </a:prstGeom>
          <a:solidFill>
            <a:srgbClr val="F8FAFC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2" name="Text 100"/>
          <p:cNvSpPr/>
          <p:nvPr/>
        </p:nvSpPr>
        <p:spPr>
          <a:xfrm>
            <a:off x="6894576" y="4091940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40000" lnSpcReduction="20000"/>
          </a:bodyPr>
          <a:lstStyle/>
          <a:p>
            <a:r>
              <a:rPr>
                <a:latin typeface="Arial"/>
              </a:rPr>
              <a:t>—</a:t>
            </a:r>
          </a:p>
        </p:txBody>
      </p:sp>
      <p:sp>
        <p:nvSpPr>
          <p:cNvPr id="103" name="Shape 101"/>
          <p:cNvSpPr/>
          <p:nvPr/>
        </p:nvSpPr>
        <p:spPr>
          <a:xfrm>
            <a:off x="8193024" y="3995928"/>
            <a:ext cx="1371600" cy="356616"/>
          </a:xfrm>
          <a:prstGeom prst="rect">
            <a:avLst/>
          </a:prstGeom>
          <a:solidFill>
            <a:srgbClr val="F8FAFC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4" name="Text 102"/>
          <p:cNvSpPr/>
          <p:nvPr/>
        </p:nvSpPr>
        <p:spPr>
          <a:xfrm>
            <a:off x="8266176" y="4091940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40000" lnSpcReduction="20000"/>
          </a:bodyPr>
          <a:lstStyle/>
          <a:p>
            <a:r>
              <a:rPr>
                <a:latin typeface="Arial"/>
              </a:rPr>
              <a:t>✓</a:t>
            </a:r>
          </a:p>
        </p:txBody>
      </p:sp>
      <p:sp>
        <p:nvSpPr>
          <p:cNvPr id="105" name="Shape 103"/>
          <p:cNvSpPr/>
          <p:nvPr/>
        </p:nvSpPr>
        <p:spPr>
          <a:xfrm>
            <a:off x="9564624" y="3995928"/>
            <a:ext cx="1371600" cy="356616"/>
          </a:xfrm>
          <a:prstGeom prst="rect">
            <a:avLst/>
          </a:prstGeom>
          <a:solidFill>
            <a:srgbClr val="F8FAFC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6" name="Text 104"/>
          <p:cNvSpPr/>
          <p:nvPr/>
        </p:nvSpPr>
        <p:spPr>
          <a:xfrm>
            <a:off x="9637776" y="4091940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40000" lnSpcReduction="20000"/>
          </a:bodyPr>
          <a:lstStyle/>
          <a:p>
            <a:r>
              <a:rPr>
                <a:latin typeface="Arial"/>
              </a:rPr>
              <a:t>✓</a:t>
            </a:r>
          </a:p>
        </p:txBody>
      </p:sp>
      <p:sp>
        <p:nvSpPr>
          <p:cNvPr id="107" name="Text 105"/>
          <p:cNvSpPr/>
          <p:nvPr/>
        </p:nvSpPr>
        <p:spPr>
          <a:xfrm>
            <a:off x="914400" y="4864608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210" b="1" dirty="0">
                <a:solidFill>
                  <a:srgbClr val="073763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Принцип доступа: пользователь видит только тот уровень данных, который нужен для его роли</a:t>
            </a:r>
            <a:endParaRPr lang="en-US" sz="121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29184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2F80ED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DELIVERY STATUS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85216" y="62179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250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Что уже реализовано в прототипе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899648" y="393192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>
                <a:latin typeface="Arial"/>
              </a:rPr>
              <a:t>14</a:t>
            </a:r>
          </a:p>
        </p:txBody>
      </p:sp>
      <p:sp>
        <p:nvSpPr>
          <p:cNvPr id="5" name="Shape 3"/>
          <p:cNvSpPr/>
          <p:nvPr/>
        </p:nvSpPr>
        <p:spPr>
          <a:xfrm>
            <a:off x="585216" y="1298448"/>
            <a:ext cx="11027664" cy="0"/>
          </a:xfrm>
          <a:prstGeom prst="line">
            <a:avLst/>
          </a:prstGeom>
          <a:noFill/>
          <a:ln w="8890">
            <a:solidFill>
              <a:srgbClr val="D7DE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85216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IBS — School Analytics Dashboard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301984" y="643737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r>
              <a:rPr>
                <a:latin typeface="Arial"/>
              </a:rPr>
              <a:t>14</a:t>
            </a:r>
          </a:p>
        </p:txBody>
      </p:sp>
      <p:sp>
        <p:nvSpPr>
          <p:cNvPr id="8" name="Shape 6"/>
          <p:cNvSpPr/>
          <p:nvPr/>
        </p:nvSpPr>
        <p:spPr>
          <a:xfrm>
            <a:off x="585216" y="6336792"/>
            <a:ext cx="11027664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822960" y="1700784"/>
            <a:ext cx="228600" cy="228600"/>
          </a:xfrm>
          <a:prstGeom prst="ellipse">
            <a:avLst/>
          </a:prstGeom>
          <a:solidFill>
            <a:srgbClr val="13A36F"/>
          </a:solidFill>
          <a:ln w="12700">
            <a:solidFill>
              <a:srgbClr val="13A3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877824" y="1828800"/>
            <a:ext cx="45720" cy="54864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923544" y="1883664"/>
            <a:ext cx="82296" cy="0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188720" y="1728216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60" b="1" dirty="0">
                <a:solidFill>
                  <a:srgbClr val="073763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Веб-приложение с несколькими ролями</a:t>
            </a:r>
            <a:endParaRPr lang="en-US" sz="1160" dirty="0"/>
          </a:p>
        </p:txBody>
      </p:sp>
      <p:sp>
        <p:nvSpPr>
          <p:cNvPr id="13" name="Shape 11"/>
          <p:cNvSpPr/>
          <p:nvPr/>
        </p:nvSpPr>
        <p:spPr>
          <a:xfrm>
            <a:off x="5989320" y="1700784"/>
            <a:ext cx="228600" cy="228600"/>
          </a:xfrm>
          <a:prstGeom prst="ellipse">
            <a:avLst/>
          </a:prstGeom>
          <a:solidFill>
            <a:srgbClr val="13A36F"/>
          </a:solidFill>
          <a:ln w="12700">
            <a:solidFill>
              <a:srgbClr val="13A3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044184" y="1828800"/>
            <a:ext cx="45720" cy="54864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6089904" y="1883664"/>
            <a:ext cx="82296" cy="0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6355080" y="1728216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60" b="1" dirty="0">
                <a:solidFill>
                  <a:srgbClr val="073763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Основные разделы дашборда</a:t>
            </a:r>
            <a:endParaRPr lang="en-US" sz="1160" dirty="0"/>
          </a:p>
        </p:txBody>
      </p:sp>
      <p:sp>
        <p:nvSpPr>
          <p:cNvPr id="17" name="Shape 15"/>
          <p:cNvSpPr/>
          <p:nvPr/>
        </p:nvSpPr>
        <p:spPr>
          <a:xfrm>
            <a:off x="822960" y="2414016"/>
            <a:ext cx="228600" cy="228600"/>
          </a:xfrm>
          <a:prstGeom prst="ellipse">
            <a:avLst/>
          </a:prstGeom>
          <a:solidFill>
            <a:srgbClr val="13A36F"/>
          </a:solidFill>
          <a:ln w="12700">
            <a:solidFill>
              <a:srgbClr val="13A3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877824" y="2542032"/>
            <a:ext cx="45720" cy="54864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923544" y="2596896"/>
            <a:ext cx="82296" cy="0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1188720" y="244144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60" b="1" dirty="0">
                <a:solidFill>
                  <a:srgbClr val="073763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Расчёт рейтингов и динамики</a:t>
            </a:r>
            <a:endParaRPr lang="en-US" sz="1160" dirty="0"/>
          </a:p>
        </p:txBody>
      </p:sp>
      <p:sp>
        <p:nvSpPr>
          <p:cNvPr id="21" name="Shape 19"/>
          <p:cNvSpPr/>
          <p:nvPr/>
        </p:nvSpPr>
        <p:spPr>
          <a:xfrm>
            <a:off x="5989320" y="2414016"/>
            <a:ext cx="228600" cy="228600"/>
          </a:xfrm>
          <a:prstGeom prst="ellipse">
            <a:avLst/>
          </a:prstGeom>
          <a:solidFill>
            <a:srgbClr val="13A36F"/>
          </a:solidFill>
          <a:ln w="12700">
            <a:solidFill>
              <a:srgbClr val="13A3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6044184" y="2542032"/>
            <a:ext cx="45720" cy="54864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6089904" y="2596896"/>
            <a:ext cx="82296" cy="0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6355080" y="244144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60" b="1" dirty="0">
                <a:solidFill>
                  <a:srgbClr val="073763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Риск-логика и фильтрация</a:t>
            </a:r>
            <a:endParaRPr lang="en-US" sz="1160" dirty="0"/>
          </a:p>
        </p:txBody>
      </p:sp>
      <p:sp>
        <p:nvSpPr>
          <p:cNvPr id="25" name="Shape 23"/>
          <p:cNvSpPr/>
          <p:nvPr/>
        </p:nvSpPr>
        <p:spPr>
          <a:xfrm>
            <a:off x="822960" y="3127248"/>
            <a:ext cx="228600" cy="228600"/>
          </a:xfrm>
          <a:prstGeom prst="ellipse">
            <a:avLst/>
          </a:prstGeom>
          <a:solidFill>
            <a:srgbClr val="13A36F"/>
          </a:solidFill>
          <a:ln w="12700">
            <a:solidFill>
              <a:srgbClr val="13A3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877824" y="3255264"/>
            <a:ext cx="45720" cy="54864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923544" y="3310128"/>
            <a:ext cx="82296" cy="0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1188720" y="315468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60" b="1" dirty="0">
                <a:solidFill>
                  <a:srgbClr val="073763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Отчёты в Excel</a:t>
            </a:r>
            <a:endParaRPr lang="en-US" sz="1160" dirty="0"/>
          </a:p>
        </p:txBody>
      </p:sp>
      <p:sp>
        <p:nvSpPr>
          <p:cNvPr id="29" name="Shape 27"/>
          <p:cNvSpPr/>
          <p:nvPr/>
        </p:nvSpPr>
        <p:spPr>
          <a:xfrm>
            <a:off x="5989320" y="3127248"/>
            <a:ext cx="228600" cy="228600"/>
          </a:xfrm>
          <a:prstGeom prst="ellipse">
            <a:avLst/>
          </a:prstGeom>
          <a:solidFill>
            <a:srgbClr val="13A36F"/>
          </a:solidFill>
          <a:ln w="12700">
            <a:solidFill>
              <a:srgbClr val="13A3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6044184" y="3255264"/>
            <a:ext cx="45720" cy="54864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6089904" y="3310128"/>
            <a:ext cx="82296" cy="0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6355080" y="315468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60" b="1" dirty="0">
                <a:solidFill>
                  <a:srgbClr val="073763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Базовая административная часть</a:t>
            </a:r>
            <a:endParaRPr lang="en-US" sz="1160" dirty="0"/>
          </a:p>
        </p:txBody>
      </p:sp>
      <p:sp>
        <p:nvSpPr>
          <p:cNvPr id="33" name="Shape 31"/>
          <p:cNvSpPr/>
          <p:nvPr/>
        </p:nvSpPr>
        <p:spPr>
          <a:xfrm>
            <a:off x="822960" y="3840480"/>
            <a:ext cx="228600" cy="228600"/>
          </a:xfrm>
          <a:prstGeom prst="ellipse">
            <a:avLst/>
          </a:prstGeom>
          <a:solidFill>
            <a:srgbClr val="13A36F"/>
          </a:solidFill>
          <a:ln w="12700">
            <a:solidFill>
              <a:srgbClr val="13A3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877824" y="3968496"/>
            <a:ext cx="45720" cy="54864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923544" y="4023360"/>
            <a:ext cx="82296" cy="0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1188720" y="386791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60" b="1" dirty="0">
                <a:solidFill>
                  <a:srgbClr val="073763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Структура для расширения</a:t>
            </a:r>
            <a:endParaRPr lang="en-US" sz="1160" dirty="0"/>
          </a:p>
        </p:txBody>
      </p:sp>
      <p:sp>
        <p:nvSpPr>
          <p:cNvPr id="37" name="Shape 35"/>
          <p:cNvSpPr/>
          <p:nvPr/>
        </p:nvSpPr>
        <p:spPr>
          <a:xfrm>
            <a:off x="804672" y="5102352"/>
            <a:ext cx="10287000" cy="566928"/>
          </a:xfrm>
          <a:prstGeom prst="roundRect">
            <a:avLst/>
          </a:prstGeom>
          <a:solidFill>
            <a:srgbClr val="073763"/>
          </a:solidFill>
          <a:ln w="12700">
            <a:solidFill>
              <a:srgbClr val="07376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960120" y="5294376"/>
            <a:ext cx="9966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Результат команды — не концепция, а рабочий прототип с аналитическим контуром и технической основой</a:t>
            </a:r>
            <a:endParaRPr lang="en-US" sz="109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29184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2F80ED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RISKS &amp; ROADMAP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85216" y="62179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250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Ограничения и план развития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899648" y="393192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>
                <a:latin typeface="Arial"/>
              </a:rPr>
              <a:t>15</a:t>
            </a:r>
          </a:p>
        </p:txBody>
      </p:sp>
      <p:sp>
        <p:nvSpPr>
          <p:cNvPr id="5" name="Shape 3"/>
          <p:cNvSpPr/>
          <p:nvPr/>
        </p:nvSpPr>
        <p:spPr>
          <a:xfrm>
            <a:off x="585216" y="1298448"/>
            <a:ext cx="11027664" cy="0"/>
          </a:xfrm>
          <a:prstGeom prst="line">
            <a:avLst/>
          </a:prstGeom>
          <a:noFill/>
          <a:ln w="8890">
            <a:solidFill>
              <a:srgbClr val="D7DE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85216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IBS — School Analytics Dashboard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301984" y="643737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r>
              <a:rPr>
                <a:latin typeface="Arial"/>
              </a:rPr>
              <a:t>15</a:t>
            </a:r>
          </a:p>
        </p:txBody>
      </p:sp>
      <p:sp>
        <p:nvSpPr>
          <p:cNvPr id="8" name="Shape 6"/>
          <p:cNvSpPr/>
          <p:nvPr/>
        </p:nvSpPr>
        <p:spPr>
          <a:xfrm>
            <a:off x="585216" y="6336792"/>
            <a:ext cx="11027664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786384" y="1682496"/>
            <a:ext cx="4663440" cy="1444752"/>
          </a:xfrm>
          <a:prstGeom prst="roundRect">
            <a:avLst>
              <a:gd name="adj" fmla="val 0"/>
            </a:avLst>
          </a:prstGeom>
          <a:solidFill>
            <a:srgbClr val="FFF7F7"/>
          </a:solidFill>
          <a:ln w="8255">
            <a:solidFill>
              <a:srgbClr val="F3D0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786384" y="1682496"/>
            <a:ext cx="41148" cy="1444752"/>
          </a:xfrm>
          <a:prstGeom prst="rect">
            <a:avLst/>
          </a:prstGeom>
          <a:solidFill>
            <a:srgbClr val="D64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87552" y="1865376"/>
            <a:ext cx="4279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Ограничения текущей версии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987552" y="2194560"/>
            <a:ext cx="42793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— синтетические данные</a:t>
            </a:r>
            <a:endParaRPr lang="en-US" sz="930" dirty="0"/>
          </a:p>
          <a:p>
            <a:pPr marL="0" indent="0" algn="l">
              <a:lnSpc>
                <a:spcPct val="84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— риск-модель требует калибровки</a:t>
            </a:r>
            <a:endParaRPr lang="en-US" sz="930" dirty="0"/>
          </a:p>
          <a:p>
            <a:pPr marL="0" indent="0" algn="l">
              <a:lnSpc>
                <a:spcPct val="84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— нужны интеграции со школьными системами</a:t>
            </a:r>
            <a:endParaRPr lang="en-US" sz="930" dirty="0"/>
          </a:p>
          <a:p>
            <a:pPr marL="0" indent="0" algn="l">
              <a:lnSpc>
                <a:spcPct val="84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— юридические и этические ограничения требуют проработки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5897880" y="1682496"/>
            <a:ext cx="4663440" cy="1444752"/>
          </a:xfrm>
          <a:prstGeom prst="roundRect">
            <a:avLst>
              <a:gd name="adj" fmla="val 0"/>
            </a:avLst>
          </a:prstGeom>
          <a:solidFill>
            <a:srgbClr val="FFFBF0"/>
          </a:solidFill>
          <a:ln w="8255">
            <a:solidFill>
              <a:srgbClr val="F6E4B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5897880" y="1682496"/>
            <a:ext cx="41148" cy="1444752"/>
          </a:xfrm>
          <a:prstGeom prst="rect">
            <a:avLst/>
          </a:prstGeom>
          <a:solidFill>
            <a:srgbClr val="F2A9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099048" y="1865376"/>
            <a:ext cx="4279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Управляемые риски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6099048" y="2194560"/>
            <a:ext cx="42793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— качество исходных данных</a:t>
            </a:r>
            <a:endParaRPr lang="en-US" sz="930" dirty="0"/>
          </a:p>
          <a:p>
            <a:pPr marL="0" indent="0" algn="l">
              <a:lnSpc>
                <a:spcPct val="84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— интерпретация рейтинга</a:t>
            </a:r>
            <a:endParaRPr lang="en-US" sz="930" dirty="0"/>
          </a:p>
          <a:p>
            <a:pPr marL="0" indent="0" algn="l">
              <a:lnSpc>
                <a:spcPct val="84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— права доступа к данным</a:t>
            </a:r>
            <a:endParaRPr lang="en-US" sz="930" dirty="0"/>
          </a:p>
          <a:p>
            <a:pPr marL="0" indent="0" algn="l">
              <a:lnSpc>
                <a:spcPct val="84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— доверие пользователей к методике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914400" y="3977640"/>
            <a:ext cx="2926080" cy="960120"/>
          </a:xfrm>
          <a:prstGeom prst="roundRect">
            <a:avLst/>
          </a:prstGeom>
          <a:solidFill>
            <a:srgbClr val="EAF2FF"/>
          </a:solidFill>
          <a:ln w="7620">
            <a:solidFill>
              <a:srgbClr val="DCEB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060704" y="4142232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2F80ED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Этап 1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060704" y="437083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35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Реальные данные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060704" y="468172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2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подключение источников, очистка, словарь данных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3950208" y="4352544"/>
            <a:ext cx="256032" cy="182880"/>
          </a:xfrm>
          <a:prstGeom prst="chevron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4343400" y="3977640"/>
            <a:ext cx="2926080" cy="960120"/>
          </a:xfrm>
          <a:prstGeom prst="roundRect">
            <a:avLst/>
          </a:prstGeom>
          <a:solidFill>
            <a:srgbClr val="F7FAFF"/>
          </a:solidFill>
          <a:ln w="7620">
            <a:solidFill>
              <a:srgbClr val="DCEB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4489704" y="4142232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2F80ED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Этап 2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489704" y="437083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35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Промышленная основа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489704" y="468172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2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БД, история изменений, настраиваемые веса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7379208" y="4352544"/>
            <a:ext cx="256032" cy="182880"/>
          </a:xfrm>
          <a:prstGeom prst="chevron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7772400" y="3977640"/>
            <a:ext cx="2926080" cy="960120"/>
          </a:xfrm>
          <a:prstGeom prst="roundRect">
            <a:avLst/>
          </a:prstGeom>
          <a:solidFill>
            <a:srgbClr val="F1FBF7"/>
          </a:solidFill>
          <a:ln w="7620">
            <a:solidFill>
              <a:srgbClr val="BDE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7918704" y="4142232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2F80ED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Этап 3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7918704" y="437083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35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Пилотирование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7918704" y="468172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2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валидация риск-модели, регламент внедрения</a:t>
            </a:r>
            <a:endParaRPr lang="en-US" sz="8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37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376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2249424" y="23545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Из разрозненных школьных данных — в управленческий </a:t>
            </a:r>
            <a:r>
              <a:rPr lang="en-US" sz="3100" b="1" dirty="0" err="1">
                <a:solidFill>
                  <a:srgbClr val="FFFFFF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инструмент</a:t>
            </a: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 </a:t>
            </a:r>
            <a:endParaRPr lang="en-US" sz="3100" dirty="0"/>
          </a:p>
        </p:txBody>
      </p:sp>
      <p:sp>
        <p:nvSpPr>
          <p:cNvPr id="25" name="Shape 23"/>
          <p:cNvSpPr/>
          <p:nvPr/>
        </p:nvSpPr>
        <p:spPr>
          <a:xfrm>
            <a:off x="786384" y="5532120"/>
            <a:ext cx="1037844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960120" y="5705856"/>
            <a:ext cx="9966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073763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Данные → аналитика → управленческое действие → развитие школы</a:t>
            </a:r>
            <a:endParaRPr lang="en-US" sz="1220" dirty="0"/>
          </a:p>
        </p:txBody>
      </p:sp>
      <p:sp>
        <p:nvSpPr>
          <p:cNvPr id="27" name="Text 25"/>
          <p:cNvSpPr/>
          <p:nvPr/>
        </p:nvSpPr>
        <p:spPr>
          <a:xfrm>
            <a:off x="786384" y="633679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10" dirty="0">
                <a:solidFill>
                  <a:srgbClr val="9DB9DA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IBS — School Analytics Dashboard</a:t>
            </a:r>
            <a:endParaRPr lang="en-US" sz="81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37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07792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  <a:latin typeface="Arial"/>
              </a:rPr>
              <a:t>НАША КОМАНДА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498079" y="914400"/>
            <a:ext cx="3840480" cy="18288"/>
          </a:xfrm>
          <a:prstGeom prst="rect">
            <a:avLst/>
          </a:prstGeom>
          <a:solidFill>
            <a:srgbClr val="D2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498079" y="914400"/>
            <a:ext cx="18288" cy="4389120"/>
          </a:xfrm>
          <a:prstGeom prst="rect">
            <a:avLst/>
          </a:prstGeom>
          <a:solidFill>
            <a:srgbClr val="D2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0" y="1645920"/>
            <a:ext cx="3200400" cy="18288"/>
          </a:xfrm>
          <a:prstGeom prst="rect">
            <a:avLst/>
          </a:prstGeom>
          <a:solidFill>
            <a:srgbClr val="D2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1645920"/>
            <a:ext cx="18288" cy="3474720"/>
          </a:xfrm>
          <a:prstGeom prst="rect">
            <a:avLst/>
          </a:prstGeom>
          <a:solidFill>
            <a:srgbClr val="D2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961120" y="2377440"/>
            <a:ext cx="2468880" cy="18288"/>
          </a:xfrm>
          <a:prstGeom prst="rect">
            <a:avLst/>
          </a:prstGeom>
          <a:solidFill>
            <a:srgbClr val="D2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961120" y="2377440"/>
            <a:ext cx="18288" cy="2560320"/>
          </a:xfrm>
          <a:prstGeom prst="rect">
            <a:avLst/>
          </a:prstGeom>
          <a:solidFill>
            <a:srgbClr val="D2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8368" y="566928"/>
            <a:ext cx="1508760" cy="292608"/>
          </a:xfrm>
          <a:prstGeom prst="round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576072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800" b="1">
                <a:solidFill>
                  <a:srgbClr val="2F80ED"/>
                </a:solidFill>
                <a:latin typeface="Arial"/>
              </a:rPr>
              <a:t>APPENDIX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148840"/>
            <a:ext cx="4937760" cy="6400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3800" b="1">
                <a:solidFill>
                  <a:srgbClr val="073763"/>
                </a:solidFill>
                <a:latin typeface="Arial"/>
              </a:rPr>
              <a:t>Приложения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944368"/>
            <a:ext cx="5120640" cy="6583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rial"/>
              </a:rPr>
              <a:t>Материалы для вопросов комиссии
методика, требования, данные, доступ и пилотирование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384048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rial"/>
              </a:rPr>
              <a:t>IBS — School Analytics Dashboard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00" b="1">
                <a:solidFill>
                  <a:srgbClr val="2F80ED"/>
                </a:solidFill>
                <a:latin typeface="Arial"/>
              </a:rPr>
              <a:t>APPENDIX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85800"/>
            <a:ext cx="6766560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2500" b="1">
                <a:solidFill>
                  <a:srgbClr val="073763"/>
                </a:solidFill>
                <a:latin typeface="Arial"/>
              </a:rPr>
              <a:t>Функциональные требования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1904" y="47548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sz="800" b="0">
                <a:solidFill>
                  <a:srgbClr val="6B7280"/>
                </a:solidFill>
                <a:latin typeface="Arial"/>
              </a:rPr>
              <a:t>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75320" y="475488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sz="800" b="0">
                <a:solidFill>
                  <a:srgbClr val="6B7280"/>
                </a:solidFill>
                <a:latin typeface="Arial"/>
              </a:rPr>
              <a:t>IBS — School Analytics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71016"/>
            <a:ext cx="10927080" cy="9144"/>
          </a:xfrm>
          <a:prstGeom prst="rect">
            <a:avLst/>
          </a:prstGeom>
          <a:solidFill>
            <a:srgbClr val="D2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9692640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Приложение фиксирует состав функций, которые лежат за управленческим сценарием продукта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74519"/>
            <a:ext cx="10012680" cy="4023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874519"/>
            <a:ext cx="2331720" cy="502920"/>
          </a:xfrm>
          <a:prstGeom prst="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1984248"/>
            <a:ext cx="2148839" cy="35661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880" b="1">
                <a:solidFill>
                  <a:srgbClr val="073763"/>
                </a:solidFill>
                <a:latin typeface="Arial"/>
              </a:rPr>
              <a:t>Раздел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98648" y="1874519"/>
            <a:ext cx="4709160" cy="502920"/>
          </a:xfrm>
          <a:prstGeom prst="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90088" y="1984248"/>
            <a:ext cx="4526280" cy="35661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880" b="1">
                <a:solidFill>
                  <a:srgbClr val="073763"/>
                </a:solidFill>
                <a:latin typeface="Arial"/>
              </a:rPr>
              <a:t>Назначение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7808" y="1874519"/>
            <a:ext cx="2971800" cy="502920"/>
          </a:xfrm>
          <a:prstGeom prst="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99248" y="1984248"/>
            <a:ext cx="2788920" cy="35661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880" b="1">
                <a:solidFill>
                  <a:srgbClr val="073763"/>
                </a:solidFill>
                <a:latin typeface="Arial"/>
              </a:rPr>
              <a:t>Основные пользователи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377439"/>
            <a:ext cx="2331720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2468879"/>
            <a:ext cx="2148839" cy="3931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819" b="1">
                <a:solidFill>
                  <a:srgbClr val="111827"/>
                </a:solidFill>
                <a:latin typeface="Arial"/>
              </a:rPr>
              <a:t>Рейтинг классов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98648" y="2377439"/>
            <a:ext cx="4709160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990088" y="2468879"/>
            <a:ext cx="4526280" cy="3931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819" b="0">
                <a:solidFill>
                  <a:srgbClr val="6B7280"/>
                </a:solidFill>
                <a:latin typeface="Arial"/>
              </a:rPr>
              <a:t>Сравнение классов по шкале 0–100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07808" y="2377439"/>
            <a:ext cx="2971800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99248" y="2468879"/>
            <a:ext cx="2788920" cy="3931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819" b="0">
                <a:solidFill>
                  <a:srgbClr val="6B7280"/>
                </a:solidFill>
                <a:latin typeface="Arial"/>
              </a:rPr>
              <a:t>Директор, завуч, аналитик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2880360"/>
            <a:ext cx="2331720" cy="502920"/>
          </a:xfrm>
          <a:prstGeom prst="rect">
            <a:avLst/>
          </a:prstGeom>
          <a:solidFill>
            <a:srgbClr val="F9FAFB"/>
          </a:solidFill>
          <a:ln w="317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" y="2971800"/>
            <a:ext cx="2148839" cy="3931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819" b="1">
                <a:solidFill>
                  <a:srgbClr val="111827"/>
                </a:solidFill>
                <a:latin typeface="Arial"/>
              </a:rPr>
              <a:t>Оценки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98648" y="2880360"/>
            <a:ext cx="4709160" cy="502920"/>
          </a:xfrm>
          <a:prstGeom prst="rect">
            <a:avLst/>
          </a:prstGeom>
          <a:solidFill>
            <a:srgbClr val="F9FAFB"/>
          </a:solidFill>
          <a:ln w="317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990088" y="2971800"/>
            <a:ext cx="4526280" cy="3931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819" b="0">
                <a:solidFill>
                  <a:srgbClr val="6B7280"/>
                </a:solidFill>
                <a:latin typeface="Arial"/>
              </a:rPr>
              <a:t>Переход к предметам, классу и ученику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7808" y="2880360"/>
            <a:ext cx="2971800" cy="502920"/>
          </a:xfrm>
          <a:prstGeom prst="rect">
            <a:avLst/>
          </a:prstGeom>
          <a:solidFill>
            <a:srgbClr val="F9FAFB"/>
          </a:solidFill>
          <a:ln w="317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99248" y="2971800"/>
            <a:ext cx="2788920" cy="3931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819" b="0">
                <a:solidFill>
                  <a:srgbClr val="6B7280"/>
                </a:solidFill>
                <a:latin typeface="Arial"/>
              </a:rPr>
              <a:t>Завуч, учитель, аналитик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3383280"/>
            <a:ext cx="2331720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" y="3474720"/>
            <a:ext cx="2148839" cy="3931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819" b="1">
                <a:solidFill>
                  <a:srgbClr val="111827"/>
                </a:solidFill>
                <a:latin typeface="Arial"/>
              </a:rPr>
              <a:t>Посещаемость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98648" y="3383280"/>
            <a:ext cx="4709160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990088" y="3474720"/>
            <a:ext cx="4526280" cy="3931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819" b="0">
                <a:solidFill>
                  <a:srgbClr val="6B7280"/>
                </a:solidFill>
                <a:latin typeface="Arial"/>
              </a:rPr>
              <a:t>Контроль пропусков и изменения регулярности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07808" y="3383280"/>
            <a:ext cx="2971800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699248" y="3474720"/>
            <a:ext cx="2788920" cy="3931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819" b="0">
                <a:solidFill>
                  <a:srgbClr val="6B7280"/>
                </a:solidFill>
                <a:latin typeface="Arial"/>
              </a:rPr>
              <a:t>Директор, завуч, учитель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3886200"/>
            <a:ext cx="2331720" cy="502920"/>
          </a:xfrm>
          <a:prstGeom prst="rect">
            <a:avLst/>
          </a:prstGeom>
          <a:solidFill>
            <a:srgbClr val="F9FAFB"/>
          </a:solidFill>
          <a:ln w="317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8368" y="3977639"/>
            <a:ext cx="2148839" cy="3931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819" b="1">
                <a:solidFill>
                  <a:srgbClr val="111827"/>
                </a:solidFill>
                <a:latin typeface="Arial"/>
              </a:rPr>
              <a:t>Олимпиады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98648" y="3886200"/>
            <a:ext cx="4709160" cy="502920"/>
          </a:xfrm>
          <a:prstGeom prst="rect">
            <a:avLst/>
          </a:prstGeom>
          <a:solidFill>
            <a:srgbClr val="F9FAFB"/>
          </a:solidFill>
          <a:ln w="317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990088" y="3977639"/>
            <a:ext cx="4526280" cy="3931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819" b="0">
                <a:solidFill>
                  <a:srgbClr val="6B7280"/>
                </a:solidFill>
                <a:latin typeface="Arial"/>
              </a:rPr>
              <a:t>Учёт участия, достижений и уровня результата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07808" y="3886200"/>
            <a:ext cx="2971800" cy="502920"/>
          </a:xfrm>
          <a:prstGeom prst="rect">
            <a:avLst/>
          </a:prstGeom>
          <a:solidFill>
            <a:srgbClr val="F9FAFB"/>
          </a:solidFill>
          <a:ln w="317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699248" y="3977639"/>
            <a:ext cx="2788920" cy="3931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819" b="0">
                <a:solidFill>
                  <a:srgbClr val="6B7280"/>
                </a:solidFill>
                <a:latin typeface="Arial"/>
              </a:rPr>
              <a:t>Директор, завуч, аналитик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4389120"/>
            <a:ext cx="2331720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8368" y="4480559"/>
            <a:ext cx="2148839" cy="3931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819" b="1">
                <a:solidFill>
                  <a:srgbClr val="111827"/>
                </a:solidFill>
                <a:latin typeface="Arial"/>
              </a:rPr>
              <a:t>Риски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898648" y="4389120"/>
            <a:ext cx="4709160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990088" y="4480559"/>
            <a:ext cx="4526280" cy="3931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819" b="0">
                <a:solidFill>
                  <a:srgbClr val="6B7280"/>
                </a:solidFill>
                <a:latin typeface="Arial"/>
              </a:rPr>
              <a:t>Ранний сигнал внимания по ученику или классу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607808" y="4389120"/>
            <a:ext cx="2971800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699248" y="4480559"/>
            <a:ext cx="2788920" cy="3931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819" b="0">
                <a:solidFill>
                  <a:srgbClr val="6B7280"/>
                </a:solidFill>
                <a:latin typeface="Arial"/>
              </a:rPr>
              <a:t>Директор, завуч, учитель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" y="4892040"/>
            <a:ext cx="2331720" cy="502920"/>
          </a:xfrm>
          <a:prstGeom prst="rect">
            <a:avLst/>
          </a:prstGeom>
          <a:solidFill>
            <a:srgbClr val="F9FAFB"/>
          </a:solidFill>
          <a:ln w="317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58368" y="4983479"/>
            <a:ext cx="2148839" cy="3931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819" b="1">
                <a:solidFill>
                  <a:srgbClr val="111827"/>
                </a:solidFill>
                <a:latin typeface="Arial"/>
              </a:rPr>
              <a:t>Отчёты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898648" y="4892040"/>
            <a:ext cx="4709160" cy="502920"/>
          </a:xfrm>
          <a:prstGeom prst="rect">
            <a:avLst/>
          </a:prstGeom>
          <a:solidFill>
            <a:srgbClr val="F9FAFB"/>
          </a:solidFill>
          <a:ln w="317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990088" y="4983479"/>
            <a:ext cx="4526280" cy="3931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819" b="0">
                <a:solidFill>
                  <a:srgbClr val="6B7280"/>
                </a:solidFill>
                <a:latin typeface="Arial"/>
              </a:rPr>
              <a:t>Выгрузка управленческого слоя в Excel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607808" y="4892040"/>
            <a:ext cx="2971800" cy="502920"/>
          </a:xfrm>
          <a:prstGeom prst="rect">
            <a:avLst/>
          </a:prstGeom>
          <a:solidFill>
            <a:srgbClr val="F9FAFB"/>
          </a:solidFill>
          <a:ln w="317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699248" y="4983479"/>
            <a:ext cx="2788920" cy="3931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819" b="0">
                <a:solidFill>
                  <a:srgbClr val="6B7280"/>
                </a:solidFill>
                <a:latin typeface="Arial"/>
              </a:rPr>
              <a:t>Директор, завуч, аналитик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28" y="5394960"/>
            <a:ext cx="2331720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58368" y="5486400"/>
            <a:ext cx="2148839" cy="3931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819" b="1">
                <a:solidFill>
                  <a:srgbClr val="111827"/>
                </a:solidFill>
                <a:latin typeface="Arial"/>
              </a:rPr>
              <a:t>Администрирование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898648" y="5394960"/>
            <a:ext cx="4709160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990088" y="5486400"/>
            <a:ext cx="4526280" cy="3931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819" b="0">
                <a:solidFill>
                  <a:srgbClr val="6B7280"/>
                </a:solidFill>
                <a:latin typeface="Arial"/>
              </a:rPr>
              <a:t>Пользователи, роли, доступ и журнал действий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607808" y="5394960"/>
            <a:ext cx="2971800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699248" y="5486400"/>
            <a:ext cx="2788920" cy="3931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819" b="0">
                <a:solidFill>
                  <a:srgbClr val="6B7280"/>
                </a:solidFill>
                <a:latin typeface="Arial"/>
              </a:rPr>
              <a:t>Администратор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6928" y="644652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Arial"/>
              </a:rPr>
              <a:t>Appendix • IBS — School Analytics Dashboard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00" b="1">
                <a:solidFill>
                  <a:srgbClr val="2F80ED"/>
                </a:solidFill>
                <a:latin typeface="Arial"/>
              </a:rPr>
              <a:t>APPENDIX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85800"/>
            <a:ext cx="6766560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2500" b="1">
                <a:solidFill>
                  <a:srgbClr val="073763"/>
                </a:solidFill>
                <a:latin typeface="Arial"/>
              </a:rPr>
              <a:t>Нефункциональные требования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1904" y="47548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sz="800" b="0">
                <a:solidFill>
                  <a:srgbClr val="6B7280"/>
                </a:solidFill>
                <a:latin typeface="Arial"/>
              </a:rPr>
              <a:t>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75320" y="475488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sz="800" b="0">
                <a:solidFill>
                  <a:srgbClr val="6B7280"/>
                </a:solidFill>
                <a:latin typeface="Arial"/>
              </a:rPr>
              <a:t>IBS — School Analytics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71016"/>
            <a:ext cx="10927080" cy="9144"/>
          </a:xfrm>
          <a:prstGeom prst="rect">
            <a:avLst/>
          </a:prstGeom>
          <a:solidFill>
            <a:srgbClr val="D2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3337560" cy="1417320"/>
          </a:xfrm>
          <a:prstGeom prst="roundRect">
            <a:avLst/>
          </a:prstGeom>
          <a:solidFill>
            <a:srgbClr val="F3F5F7"/>
          </a:solidFill>
          <a:ln w="952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828800"/>
            <a:ext cx="3008376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200" b="1">
                <a:solidFill>
                  <a:srgbClr val="073763"/>
                </a:solidFill>
                <a:latin typeface="Arial"/>
              </a:rPr>
              <a:t>Безопасность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94560"/>
            <a:ext cx="3008376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rial"/>
              </a:rPr>
              <a:t>ролевой доступ
минимизация видимости данных
журналирование действий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691640"/>
            <a:ext cx="333756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26279" y="1828800"/>
            <a:ext cx="3008376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200" b="1">
                <a:solidFill>
                  <a:srgbClr val="073763"/>
                </a:solidFill>
                <a:latin typeface="Arial"/>
              </a:rPr>
              <a:t>Понятность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79" y="2194560"/>
            <a:ext cx="3008376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rial"/>
              </a:rPr>
              <a:t>короткий путь к причине
единая терминология
объяснимая методика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1691640"/>
            <a:ext cx="3337560" cy="1417320"/>
          </a:xfrm>
          <a:prstGeom prst="roundRect">
            <a:avLst/>
          </a:prstGeom>
          <a:solidFill>
            <a:srgbClr val="F3F5F7"/>
          </a:solidFill>
          <a:ln w="952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0" y="1828800"/>
            <a:ext cx="3008376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200" b="1">
                <a:solidFill>
                  <a:srgbClr val="073763"/>
                </a:solidFill>
                <a:latin typeface="Arial"/>
              </a:rPr>
              <a:t>Надёжность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194560"/>
            <a:ext cx="3008376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rial"/>
              </a:rPr>
              <a:t>проверка структуры данных
контроль ошибок загрузки
устойчивость отчётов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566160"/>
            <a:ext cx="333756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59" y="3703320"/>
            <a:ext cx="3008376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200" b="1">
                <a:solidFill>
                  <a:srgbClr val="073763"/>
                </a:solidFill>
                <a:latin typeface="Arial"/>
              </a:rPr>
              <a:t>Масштабируемость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4069080"/>
            <a:ext cx="3008376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rial"/>
              </a:rPr>
              <a:t>единая база данных
история изменений
добавление новых метрик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61688" y="3566160"/>
            <a:ext cx="3337560" cy="1417320"/>
          </a:xfrm>
          <a:prstGeom prst="roundRect">
            <a:avLst/>
          </a:prstGeom>
          <a:solidFill>
            <a:srgbClr val="F3F5F7"/>
          </a:solidFill>
          <a:ln w="952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26279" y="3703320"/>
            <a:ext cx="3008376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200" b="1">
                <a:solidFill>
                  <a:srgbClr val="073763"/>
                </a:solidFill>
                <a:latin typeface="Arial"/>
              </a:rPr>
              <a:t>Поддерживаемость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79" y="4069080"/>
            <a:ext cx="3008376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rial"/>
              </a:rPr>
              <a:t>понятный стек
разделение слоёв
документированная логика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65008" y="3566160"/>
            <a:ext cx="333756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0" y="3703320"/>
            <a:ext cx="3008376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200" b="1">
                <a:solidFill>
                  <a:srgbClr val="073763"/>
                </a:solidFill>
                <a:latin typeface="Arial"/>
              </a:rPr>
              <a:t>Этичность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069080"/>
            <a:ext cx="3008376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rial"/>
              </a:rPr>
              <a:t>сигнал не является приговором
решение принимает человек
учёт контекста школы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4652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Arial"/>
              </a:rPr>
              <a:t>Appendix • IBS — School Analytics Dashboard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00" b="1">
                <a:solidFill>
                  <a:srgbClr val="2F80ED"/>
                </a:solidFill>
                <a:latin typeface="Arial"/>
              </a:rPr>
              <a:t>APPENDIX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85800"/>
            <a:ext cx="6766560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2500" b="1">
                <a:solidFill>
                  <a:srgbClr val="073763"/>
                </a:solidFill>
                <a:latin typeface="Arial"/>
              </a:rPr>
              <a:t>Словарь данных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1904" y="47548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sz="800" b="0">
                <a:solidFill>
                  <a:srgbClr val="6B7280"/>
                </a:solidFill>
                <a:latin typeface="Arial"/>
              </a:rPr>
              <a:t>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75320" y="475488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sz="800" b="0">
                <a:solidFill>
                  <a:srgbClr val="6B7280"/>
                </a:solidFill>
                <a:latin typeface="Arial"/>
              </a:rPr>
              <a:t>IBS — School Analytics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71016"/>
            <a:ext cx="10927080" cy="9144"/>
          </a:xfrm>
          <a:prstGeom prst="rect">
            <a:avLst/>
          </a:prstGeom>
          <a:solidFill>
            <a:srgbClr val="D2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9784080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Словарь нужен, чтобы у администрации, аналитиков и разработчиков было единое понимание показателей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74519"/>
            <a:ext cx="10012680" cy="424281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874519"/>
            <a:ext cx="2148840" cy="530352"/>
          </a:xfrm>
          <a:prstGeom prst="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1984248"/>
            <a:ext cx="1965960" cy="384047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880" b="1">
                <a:solidFill>
                  <a:srgbClr val="073763"/>
                </a:solidFill>
                <a:latin typeface="Arial"/>
              </a:rPr>
              <a:t>Сущность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15768" y="1874519"/>
            <a:ext cx="3931920" cy="530352"/>
          </a:xfrm>
          <a:prstGeom prst="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07208" y="1984248"/>
            <a:ext cx="3749039" cy="384047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880" b="1">
                <a:solidFill>
                  <a:srgbClr val="073763"/>
                </a:solidFill>
                <a:latin typeface="Arial"/>
              </a:rPr>
              <a:t>Ключевые поля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47688" y="1874519"/>
            <a:ext cx="3931920" cy="530352"/>
          </a:xfrm>
          <a:prstGeom prst="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39127" y="1984248"/>
            <a:ext cx="3749039" cy="384047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880" b="1">
                <a:solidFill>
                  <a:srgbClr val="073763"/>
                </a:solidFill>
                <a:latin typeface="Arial"/>
              </a:rPr>
              <a:t>Зачем используется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404872"/>
            <a:ext cx="2148840" cy="530352"/>
          </a:xfrm>
          <a:prstGeom prst="rect">
            <a:avLst/>
          </a:prstGeom>
          <a:solidFill>
            <a:srgbClr val="FFFFFF"/>
          </a:solidFill>
          <a:ln w="317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2496312"/>
            <a:ext cx="1965960" cy="420623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800" b="1">
                <a:solidFill>
                  <a:srgbClr val="111827"/>
                </a:solidFill>
                <a:latin typeface="Arial"/>
              </a:rPr>
              <a:t>Класс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15768" y="2404872"/>
            <a:ext cx="3931920" cy="530352"/>
          </a:xfrm>
          <a:prstGeom prst="rect">
            <a:avLst/>
          </a:prstGeom>
          <a:solidFill>
            <a:srgbClr val="FFFFFF"/>
          </a:solidFill>
          <a:ln w="317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07208" y="2496312"/>
            <a:ext cx="3749039" cy="420623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rial"/>
              </a:rPr>
              <a:t>параллель, литера, учебный год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47688" y="2404872"/>
            <a:ext cx="3931920" cy="530352"/>
          </a:xfrm>
          <a:prstGeom prst="rect">
            <a:avLst/>
          </a:prstGeom>
          <a:solidFill>
            <a:srgbClr val="FFFFFF"/>
          </a:solidFill>
          <a:ln w="317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39127" y="2496312"/>
            <a:ext cx="3749039" cy="420623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rial"/>
              </a:rPr>
              <a:t>основа рейтинга и сравнения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2935224"/>
            <a:ext cx="2148840" cy="530352"/>
          </a:xfrm>
          <a:prstGeom prst="rect">
            <a:avLst/>
          </a:prstGeom>
          <a:solidFill>
            <a:srgbClr val="F9FAFB"/>
          </a:solidFill>
          <a:ln w="317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" y="3026664"/>
            <a:ext cx="1965960" cy="420623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800" b="1">
                <a:solidFill>
                  <a:srgbClr val="111827"/>
                </a:solidFill>
                <a:latin typeface="Arial"/>
              </a:rPr>
              <a:t>Ученик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15768" y="2935224"/>
            <a:ext cx="3931920" cy="530352"/>
          </a:xfrm>
          <a:prstGeom prst="rect">
            <a:avLst/>
          </a:prstGeom>
          <a:solidFill>
            <a:srgbClr val="F9FAFB"/>
          </a:solidFill>
          <a:ln w="317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807208" y="3026664"/>
            <a:ext cx="3749039" cy="420623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rial"/>
              </a:rPr>
              <a:t>класс, предметы, активность, риск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47688" y="2935224"/>
            <a:ext cx="3931920" cy="530352"/>
          </a:xfrm>
          <a:prstGeom prst="rect">
            <a:avLst/>
          </a:prstGeom>
          <a:solidFill>
            <a:srgbClr val="F9FAFB"/>
          </a:solidFill>
          <a:ln w="317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39127" y="3026664"/>
            <a:ext cx="3749039" cy="420623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rial"/>
              </a:rPr>
              <a:t>детализация причин и динамики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3465575"/>
            <a:ext cx="2148840" cy="530352"/>
          </a:xfrm>
          <a:prstGeom prst="rect">
            <a:avLst/>
          </a:prstGeom>
          <a:solidFill>
            <a:srgbClr val="FFFFFF"/>
          </a:solidFill>
          <a:ln w="317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" y="3557015"/>
            <a:ext cx="1965960" cy="420623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800" b="1">
                <a:solidFill>
                  <a:srgbClr val="111827"/>
                </a:solidFill>
                <a:latin typeface="Arial"/>
              </a:rPr>
              <a:t>Оценки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15768" y="3465575"/>
            <a:ext cx="3931920" cy="530352"/>
          </a:xfrm>
          <a:prstGeom prst="rect">
            <a:avLst/>
          </a:prstGeom>
          <a:solidFill>
            <a:srgbClr val="FFFFFF"/>
          </a:solidFill>
          <a:ln w="317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807208" y="3557015"/>
            <a:ext cx="3749039" cy="420623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rial"/>
              </a:rPr>
              <a:t>предмет, период, средний балл, тренд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47688" y="3465575"/>
            <a:ext cx="3931920" cy="530352"/>
          </a:xfrm>
          <a:prstGeom prst="rect">
            <a:avLst/>
          </a:prstGeom>
          <a:solidFill>
            <a:srgbClr val="FFFFFF"/>
          </a:solidFill>
          <a:ln w="317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739127" y="3557015"/>
            <a:ext cx="3749039" cy="420623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rial"/>
              </a:rPr>
              <a:t>академический компонент рейтинга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3995927"/>
            <a:ext cx="2148840" cy="530352"/>
          </a:xfrm>
          <a:prstGeom prst="rect">
            <a:avLst/>
          </a:prstGeom>
          <a:solidFill>
            <a:srgbClr val="F9FAFB"/>
          </a:solidFill>
          <a:ln w="317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8368" y="4087367"/>
            <a:ext cx="1965960" cy="420623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800" b="1">
                <a:solidFill>
                  <a:srgbClr val="111827"/>
                </a:solidFill>
                <a:latin typeface="Arial"/>
              </a:rPr>
              <a:t>Посещаемость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15768" y="3995927"/>
            <a:ext cx="3931920" cy="530352"/>
          </a:xfrm>
          <a:prstGeom prst="rect">
            <a:avLst/>
          </a:prstGeom>
          <a:solidFill>
            <a:srgbClr val="F9FAFB"/>
          </a:solidFill>
          <a:ln w="317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807208" y="4087367"/>
            <a:ext cx="3749039" cy="420623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rial"/>
              </a:rPr>
              <a:t>пропуски, период, изменение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47688" y="3995927"/>
            <a:ext cx="3931920" cy="530352"/>
          </a:xfrm>
          <a:prstGeom prst="rect">
            <a:avLst/>
          </a:prstGeom>
          <a:solidFill>
            <a:srgbClr val="F9FAFB"/>
          </a:solidFill>
          <a:ln w="317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739127" y="4087367"/>
            <a:ext cx="3749039" cy="420623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rial"/>
              </a:rPr>
              <a:t>ранний индикатор отклонения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4526279"/>
            <a:ext cx="2148840" cy="530352"/>
          </a:xfrm>
          <a:prstGeom prst="rect">
            <a:avLst/>
          </a:prstGeom>
          <a:solidFill>
            <a:srgbClr val="FFFFFF"/>
          </a:solidFill>
          <a:ln w="317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8368" y="4617719"/>
            <a:ext cx="1965960" cy="420623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800" b="1">
                <a:solidFill>
                  <a:srgbClr val="111827"/>
                </a:solidFill>
                <a:latin typeface="Arial"/>
              </a:rPr>
              <a:t>Олимпиады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15768" y="4526279"/>
            <a:ext cx="3931920" cy="530352"/>
          </a:xfrm>
          <a:prstGeom prst="rect">
            <a:avLst/>
          </a:prstGeom>
          <a:solidFill>
            <a:srgbClr val="FFFFFF"/>
          </a:solidFill>
          <a:ln w="317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807208" y="4617719"/>
            <a:ext cx="3749039" cy="420623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rial"/>
              </a:rPr>
              <a:t>уровень, участие, результат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47688" y="4526279"/>
            <a:ext cx="3931920" cy="530352"/>
          </a:xfrm>
          <a:prstGeom prst="rect">
            <a:avLst/>
          </a:prstGeom>
          <a:solidFill>
            <a:srgbClr val="FFFFFF"/>
          </a:solidFill>
          <a:ln w="317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739127" y="4617719"/>
            <a:ext cx="3749039" cy="420623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rial"/>
              </a:rPr>
              <a:t>показатель развития и достижений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" y="5056631"/>
            <a:ext cx="2148840" cy="530352"/>
          </a:xfrm>
          <a:prstGeom prst="rect">
            <a:avLst/>
          </a:prstGeom>
          <a:solidFill>
            <a:srgbClr val="F9FAFB"/>
          </a:solidFill>
          <a:ln w="317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58368" y="5148071"/>
            <a:ext cx="1965960" cy="420623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800" b="1">
                <a:solidFill>
                  <a:srgbClr val="111827"/>
                </a:solidFill>
                <a:latin typeface="Arial"/>
              </a:rPr>
              <a:t>СПД и активность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15768" y="5056631"/>
            <a:ext cx="3931920" cy="530352"/>
          </a:xfrm>
          <a:prstGeom prst="rect">
            <a:avLst/>
          </a:prstGeom>
          <a:solidFill>
            <a:srgbClr val="F9FAFB"/>
          </a:solidFill>
          <a:ln w="317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807208" y="5148071"/>
            <a:ext cx="3749039" cy="420623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rial"/>
              </a:rPr>
              <a:t>участие, часы, период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647688" y="5056631"/>
            <a:ext cx="3931920" cy="530352"/>
          </a:xfrm>
          <a:prstGeom prst="rect">
            <a:avLst/>
          </a:prstGeom>
          <a:solidFill>
            <a:srgbClr val="F9FAFB"/>
          </a:solidFill>
          <a:ln w="317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739127" y="5148071"/>
            <a:ext cx="3749039" cy="420623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rial"/>
              </a:rPr>
              <a:t>показатель вовлечённости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28" y="5586983"/>
            <a:ext cx="2148840" cy="530352"/>
          </a:xfrm>
          <a:prstGeom prst="rect">
            <a:avLst/>
          </a:prstGeom>
          <a:solidFill>
            <a:srgbClr val="FFFFFF"/>
          </a:solidFill>
          <a:ln w="317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58368" y="5678423"/>
            <a:ext cx="1965960" cy="420623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800" b="1">
                <a:solidFill>
                  <a:srgbClr val="111827"/>
                </a:solidFill>
                <a:latin typeface="Arial"/>
              </a:rPr>
              <a:t>Риск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15768" y="5586983"/>
            <a:ext cx="3931920" cy="530352"/>
          </a:xfrm>
          <a:prstGeom prst="rect">
            <a:avLst/>
          </a:prstGeom>
          <a:solidFill>
            <a:srgbClr val="FFFFFF"/>
          </a:solidFill>
          <a:ln w="317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807208" y="5678423"/>
            <a:ext cx="3749039" cy="420623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rial"/>
              </a:rPr>
              <a:t>уровень, факторы, период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647688" y="5586983"/>
            <a:ext cx="3931920" cy="530352"/>
          </a:xfrm>
          <a:prstGeom prst="rect">
            <a:avLst/>
          </a:prstGeom>
          <a:solidFill>
            <a:srgbClr val="FFFFFF"/>
          </a:solidFill>
          <a:ln w="317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739127" y="5678423"/>
            <a:ext cx="3749039" cy="420623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rial"/>
              </a:rPr>
              <a:t>сигнал для проверки контекста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6928" y="644652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Arial"/>
              </a:rPr>
              <a:t>Appendix • IBS — School Analytics Dashboard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00" b="1">
                <a:solidFill>
                  <a:srgbClr val="2F80ED"/>
                </a:solidFill>
                <a:latin typeface="Arial"/>
              </a:rPr>
              <a:t>APPENDIX 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85800"/>
            <a:ext cx="6766560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2500" b="1">
                <a:solidFill>
                  <a:srgbClr val="073763"/>
                </a:solidFill>
                <a:latin typeface="Arial"/>
              </a:rPr>
              <a:t>Методика рейтинга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1904" y="47548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sz="800" b="0">
                <a:solidFill>
                  <a:srgbClr val="6B7280"/>
                </a:solidFill>
                <a:latin typeface="Arial"/>
              </a:rPr>
              <a:t>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75320" y="475488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sz="800" b="0">
                <a:solidFill>
                  <a:srgbClr val="6B7280"/>
                </a:solidFill>
                <a:latin typeface="Arial"/>
              </a:rPr>
              <a:t>IBS — School Analytics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71016"/>
            <a:ext cx="10927080" cy="9144"/>
          </a:xfrm>
          <a:prstGeom prst="rect">
            <a:avLst/>
          </a:prstGeom>
          <a:solidFill>
            <a:srgbClr val="D2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698480" cy="3840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1500" b="1">
                <a:solidFill>
                  <a:srgbClr val="073763"/>
                </a:solidFill>
                <a:latin typeface="Arial"/>
              </a:rPr>
              <a:t>Рейтинг = 0,35×Академика + 0,25×Олимпиады + 0,15×Посещаемость + 0,15×Активность + 0,10×Низкий риск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31720"/>
            <a:ext cx="1874519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2468879"/>
            <a:ext cx="1545336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200" b="1">
                <a:solidFill>
                  <a:srgbClr val="073763"/>
                </a:solidFill>
                <a:latin typeface="Arial"/>
              </a:rPr>
              <a:t>Академика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834639"/>
            <a:ext cx="1545336" cy="160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rial"/>
              </a:rPr>
              <a:t>средний балл
результаты по предметам
изменение за период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4681728"/>
            <a:ext cx="914400" cy="310896"/>
          </a:xfrm>
          <a:prstGeom prst="round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4690872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35%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39" y="2331720"/>
            <a:ext cx="1874519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99232" y="2468879"/>
            <a:ext cx="1545336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200" b="1">
                <a:solidFill>
                  <a:srgbClr val="073763"/>
                </a:solidFill>
                <a:latin typeface="Arial"/>
              </a:rPr>
              <a:t>Олимпиады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9232" y="2834639"/>
            <a:ext cx="1545336" cy="160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rial"/>
              </a:rPr>
              <a:t>участие
уровень олимпиады
результат или диплом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19272" y="4681728"/>
            <a:ext cx="914400" cy="310896"/>
          </a:xfrm>
          <a:prstGeom prst="round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19272" y="4690872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10912" y="2331720"/>
            <a:ext cx="1874519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75503" y="2468879"/>
            <a:ext cx="1545336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200" b="1">
                <a:solidFill>
                  <a:srgbClr val="073763"/>
                </a:solidFill>
                <a:latin typeface="Arial"/>
              </a:rPr>
              <a:t>Посещаемость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75503" y="2834639"/>
            <a:ext cx="1545336" cy="160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rial"/>
              </a:rPr>
              <a:t>доля посещений
пропуски
динамика регулярности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95544" y="4681728"/>
            <a:ext cx="914400" cy="310896"/>
          </a:xfrm>
          <a:prstGeom prst="round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95544" y="4690872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15%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87183" y="2331720"/>
            <a:ext cx="1874519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51775" y="2468879"/>
            <a:ext cx="1545336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200" b="1">
                <a:solidFill>
                  <a:srgbClr val="073763"/>
                </a:solidFill>
                <a:latin typeface="Arial"/>
              </a:rPr>
              <a:t>Активность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1775" y="2834639"/>
            <a:ext cx="1545336" cy="160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rial"/>
              </a:rPr>
              <a:t>СПД
участие в процессах
вовлечённость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71815" y="4681728"/>
            <a:ext cx="914400" cy="310896"/>
          </a:xfrm>
          <a:prstGeom prst="round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71815" y="4690872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15%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63456" y="2331720"/>
            <a:ext cx="1874519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528048" y="2468879"/>
            <a:ext cx="1545336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200" b="1">
                <a:solidFill>
                  <a:srgbClr val="073763"/>
                </a:solidFill>
                <a:latin typeface="Arial"/>
              </a:rPr>
              <a:t>Низкий риск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28048" y="2834639"/>
            <a:ext cx="1545336" cy="160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rial"/>
              </a:rPr>
              <a:t>стабильность
нет резкого ухудшения
нет негативного набора факторов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48088" y="4681728"/>
            <a:ext cx="914400" cy="310896"/>
          </a:xfrm>
          <a:prstGeom prst="round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848088" y="4690872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" y="557784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Arial"/>
              </a:rPr>
              <a:t>Все компоненты приводятся к шкале 0–100, поэтому итоговый балл остаётся сравнимым между классами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44652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Arial"/>
              </a:rPr>
              <a:t>Appendix • IBS — School Analytics Dashboard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00" b="1">
                <a:solidFill>
                  <a:srgbClr val="2F80ED"/>
                </a:solidFill>
                <a:latin typeface="Arial"/>
              </a:rPr>
              <a:t>APPENDIX 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85800"/>
            <a:ext cx="6766560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2500" b="1">
                <a:solidFill>
                  <a:srgbClr val="073763"/>
                </a:solidFill>
                <a:latin typeface="Arial"/>
              </a:rPr>
              <a:t>Логика риск-сигнала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1904" y="47548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sz="800" b="0">
                <a:solidFill>
                  <a:srgbClr val="6B7280"/>
                </a:solidFill>
                <a:latin typeface="Arial"/>
              </a:rPr>
              <a:t>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75320" y="475488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sz="800" b="0">
                <a:solidFill>
                  <a:srgbClr val="6B7280"/>
                </a:solidFill>
                <a:latin typeface="Arial"/>
              </a:rPr>
              <a:t>IBS — School Analytics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71016"/>
            <a:ext cx="10927080" cy="9144"/>
          </a:xfrm>
          <a:prstGeom prst="rect">
            <a:avLst/>
          </a:prstGeom>
          <a:solidFill>
            <a:srgbClr val="D2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8368" y="1572768"/>
            <a:ext cx="320040" cy="320040"/>
          </a:xfrm>
          <a:prstGeom prst="round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1581912"/>
            <a:ext cx="320040" cy="301751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554480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019" b="1">
                <a:solidFill>
                  <a:srgbClr val="073763"/>
                </a:solidFill>
                <a:latin typeface="Arial"/>
              </a:rPr>
              <a:t>Снижение оценок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801368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40" b="0">
                <a:solidFill>
                  <a:srgbClr val="6B7280"/>
                </a:solidFill>
                <a:latin typeface="Arial"/>
              </a:rPr>
              <a:t>падение среднего балла или отрицательный тренд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286000"/>
            <a:ext cx="320040" cy="320040"/>
          </a:xfrm>
          <a:prstGeom prst="round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2295144"/>
            <a:ext cx="320040" cy="301751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267712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019" b="1">
                <a:solidFill>
                  <a:srgbClr val="073763"/>
                </a:solidFill>
                <a:latin typeface="Arial"/>
              </a:rPr>
              <a:t>Рост пропусков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514600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40" b="0">
                <a:solidFill>
                  <a:srgbClr val="6B7280"/>
                </a:solidFill>
                <a:latin typeface="Arial"/>
              </a:rPr>
              <a:t>ухудшение регулярности посещения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999232"/>
            <a:ext cx="320040" cy="320040"/>
          </a:xfrm>
          <a:prstGeom prst="round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3008376"/>
            <a:ext cx="320040" cy="301751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980944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019" b="1">
                <a:solidFill>
                  <a:srgbClr val="073763"/>
                </a:solidFill>
                <a:latin typeface="Arial"/>
              </a:rPr>
              <a:t>Низкая активность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227832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40" b="0">
                <a:solidFill>
                  <a:srgbClr val="6B7280"/>
                </a:solidFill>
                <a:latin typeface="Arial"/>
              </a:rPr>
              <a:t>слабое участие в СПД и школьных процессах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712463"/>
            <a:ext cx="320040" cy="320040"/>
          </a:xfrm>
          <a:prstGeom prst="round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" y="3721607"/>
            <a:ext cx="320040" cy="301751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694176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019" b="1">
                <a:solidFill>
                  <a:srgbClr val="073763"/>
                </a:solidFill>
                <a:latin typeface="Arial"/>
              </a:rPr>
              <a:t>Нет положительной динамики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941063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40" b="0">
                <a:solidFill>
                  <a:srgbClr val="6B7280"/>
                </a:solidFill>
                <a:latin typeface="Arial"/>
              </a:rPr>
              <a:t>показатели не восстанавливаются за период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425696"/>
            <a:ext cx="320040" cy="320040"/>
          </a:xfrm>
          <a:prstGeom prst="round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" y="4434840"/>
            <a:ext cx="320040" cy="301751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407408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019" b="1">
                <a:solidFill>
                  <a:srgbClr val="073763"/>
                </a:solidFill>
                <a:latin typeface="Arial"/>
              </a:rPr>
              <a:t>Негатив по нескольким метрикам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654296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40" b="0">
                <a:solidFill>
                  <a:srgbClr val="6B7280"/>
                </a:solidFill>
                <a:latin typeface="Arial"/>
              </a:rPr>
              <a:t>одновременно ухудшаются разные зоны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97880" y="1965960"/>
            <a:ext cx="1417320" cy="1234440"/>
          </a:xfrm>
          <a:prstGeom prst="roundRect">
            <a:avLst/>
          </a:prstGeom>
          <a:solidFill>
            <a:srgbClr val="0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71032" y="2212848"/>
            <a:ext cx="1271016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НИЗКИЙ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71032" y="2578608"/>
            <a:ext cx="1271016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740" b="0">
                <a:solidFill>
                  <a:srgbClr val="FFFFFF"/>
                </a:solidFill>
                <a:latin typeface="Arial"/>
              </a:rPr>
              <a:t>наблюдение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89520" y="1965960"/>
            <a:ext cx="1417320" cy="1234440"/>
          </a:xfrm>
          <a:prstGeom prst="round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662672" y="2212848"/>
            <a:ext cx="1271016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СРЕДНИЙ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62672" y="2578608"/>
            <a:ext cx="1271016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740" b="0">
                <a:solidFill>
                  <a:srgbClr val="FFFFFF"/>
                </a:solidFill>
                <a:latin typeface="Arial"/>
              </a:rPr>
              <a:t>проверка причин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81160" y="1965960"/>
            <a:ext cx="1417320" cy="1234440"/>
          </a:xfrm>
          <a:prstGeom prst="roundRect">
            <a:avLst/>
          </a:prstGeom>
          <a:solidFill>
            <a:srgbClr val="073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354312" y="2212848"/>
            <a:ext cx="1271016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ВЫСОКИЙ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54312" y="2578608"/>
            <a:ext cx="1271016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740" b="0">
                <a:solidFill>
                  <a:srgbClr val="FFFFFF"/>
                </a:solidFill>
                <a:latin typeface="Arial"/>
              </a:rPr>
              <a:t>управленческое внимание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97880" y="3886200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300" b="1">
                <a:solidFill>
                  <a:srgbClr val="073763"/>
                </a:solidFill>
                <a:latin typeface="Arial"/>
              </a:rPr>
              <a:t>Принцип интерпретации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97880" y="4315968"/>
            <a:ext cx="4526280" cy="685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940" b="0">
                <a:solidFill>
                  <a:srgbClr val="6B7280"/>
                </a:solidFill>
                <a:latin typeface="Arial"/>
              </a:rPr>
              <a:t>Риск не заменяет решение педагога
Сигнал показывает, где нужно проверить контекст
Финальное действие выбирает ответственный сотрудник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97880" y="5321808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200" b="1">
                <a:solidFill>
                  <a:srgbClr val="2F80ED"/>
                </a:solidFill>
                <a:latin typeface="Arial"/>
              </a:rPr>
              <a:t>Сигнал → проверка контекста → педагогическое действие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644652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Arial"/>
              </a:rPr>
              <a:t>Appendix • IBS — School Analytics Dashboard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00" b="1">
                <a:solidFill>
                  <a:srgbClr val="2F80ED"/>
                </a:solidFill>
                <a:latin typeface="Arial"/>
              </a:rPr>
              <a:t>APPENDIX 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85800"/>
            <a:ext cx="6766560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2500" b="1">
                <a:solidFill>
                  <a:srgbClr val="073763"/>
                </a:solidFill>
                <a:latin typeface="Arial"/>
              </a:rPr>
              <a:t>Детализация доступа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1904" y="47548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sz="800" b="0">
                <a:solidFill>
                  <a:srgbClr val="6B7280"/>
                </a:solidFill>
                <a:latin typeface="Arial"/>
              </a:rPr>
              <a:t>A6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75320" y="475488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sz="800" b="0">
                <a:solidFill>
                  <a:srgbClr val="6B7280"/>
                </a:solidFill>
                <a:latin typeface="Arial"/>
              </a:rPr>
              <a:t>IBS — School Analytics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71016"/>
            <a:ext cx="10927080" cy="9144"/>
          </a:xfrm>
          <a:prstGeom prst="rect">
            <a:avLst/>
          </a:prstGeom>
          <a:solidFill>
            <a:srgbClr val="D2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66928" y="1627632"/>
            <a:ext cx="8869680" cy="396849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627632"/>
            <a:ext cx="1600200" cy="566928"/>
          </a:xfrm>
          <a:prstGeom prst="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737360"/>
            <a:ext cx="1417320" cy="420623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880" b="1">
                <a:solidFill>
                  <a:srgbClr val="073763"/>
                </a:solidFill>
                <a:latin typeface="Arial"/>
              </a:rPr>
              <a:t>Роль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67128" y="1627632"/>
            <a:ext cx="1417320" cy="566928"/>
          </a:xfrm>
          <a:prstGeom prst="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258568" y="1737360"/>
            <a:ext cx="1234440" cy="420623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880" b="1">
                <a:solidFill>
                  <a:srgbClr val="073763"/>
                </a:solidFill>
                <a:latin typeface="Arial"/>
              </a:rPr>
              <a:t>Сводка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84448" y="1627632"/>
            <a:ext cx="1508760" cy="566928"/>
          </a:xfrm>
          <a:prstGeom prst="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75887" y="1737360"/>
            <a:ext cx="1325880" cy="420623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880" b="1">
                <a:solidFill>
                  <a:srgbClr val="073763"/>
                </a:solidFill>
                <a:latin typeface="Arial"/>
              </a:rPr>
              <a:t>Классы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93208" y="1627632"/>
            <a:ext cx="1508760" cy="566928"/>
          </a:xfrm>
          <a:prstGeom prst="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84648" y="1737360"/>
            <a:ext cx="1325880" cy="420623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880" b="1">
                <a:solidFill>
                  <a:srgbClr val="073763"/>
                </a:solidFill>
                <a:latin typeface="Arial"/>
              </a:rPr>
              <a:t>Ученики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1968" y="1627632"/>
            <a:ext cx="1417320" cy="566928"/>
          </a:xfrm>
          <a:prstGeom prst="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93408" y="1737360"/>
            <a:ext cx="1234440" cy="420623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880" b="1">
                <a:solidFill>
                  <a:srgbClr val="073763"/>
                </a:solidFill>
                <a:latin typeface="Arial"/>
              </a:rPr>
              <a:t>Отчёты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9288" y="1627632"/>
            <a:ext cx="1417320" cy="566928"/>
          </a:xfrm>
          <a:prstGeom prst="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10728" y="1737360"/>
            <a:ext cx="1234440" cy="420623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880" b="1">
                <a:solidFill>
                  <a:srgbClr val="073763"/>
                </a:solidFill>
                <a:latin typeface="Arial"/>
              </a:rPr>
              <a:t>Пользователи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194560"/>
            <a:ext cx="1600200" cy="566928"/>
          </a:xfrm>
          <a:prstGeom prst="rect">
            <a:avLst/>
          </a:prstGeom>
          <a:solidFill>
            <a:srgbClr val="FFFFFF"/>
          </a:solidFill>
          <a:ln w="317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" y="2286000"/>
            <a:ext cx="14173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780" b="1">
                <a:solidFill>
                  <a:srgbClr val="111827"/>
                </a:solidFill>
                <a:latin typeface="Arial"/>
              </a:rPr>
              <a:t>Директор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67128" y="2194560"/>
            <a:ext cx="1417320" cy="566928"/>
          </a:xfrm>
          <a:prstGeom prst="rect">
            <a:avLst/>
          </a:prstGeom>
          <a:solidFill>
            <a:srgbClr val="FFFFFF"/>
          </a:solidFill>
          <a:ln w="317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258568" y="2286000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780" b="0">
                <a:solidFill>
                  <a:srgbClr val="6B7280"/>
                </a:solidFill>
                <a:latin typeface="Arial"/>
              </a:rPr>
              <a:t>школа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84448" y="2194560"/>
            <a:ext cx="1508760" cy="566928"/>
          </a:xfrm>
          <a:prstGeom prst="rect">
            <a:avLst/>
          </a:prstGeom>
          <a:solidFill>
            <a:srgbClr val="FFFFFF"/>
          </a:solidFill>
          <a:ln w="317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75887" y="2286000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780" b="0">
                <a:solidFill>
                  <a:srgbClr val="6B7280"/>
                </a:solidFill>
                <a:latin typeface="Arial"/>
              </a:rPr>
              <a:t>все классы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93208" y="2194560"/>
            <a:ext cx="1508760" cy="566928"/>
          </a:xfrm>
          <a:prstGeom prst="rect">
            <a:avLst/>
          </a:prstGeom>
          <a:solidFill>
            <a:srgbClr val="FFFFFF"/>
          </a:solidFill>
          <a:ln w="317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184648" y="2286000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780" b="0">
                <a:solidFill>
                  <a:srgbClr val="6B7280"/>
                </a:solidFill>
                <a:latin typeface="Arial"/>
              </a:rPr>
              <a:t>агрегировано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01968" y="2194560"/>
            <a:ext cx="1417320" cy="566928"/>
          </a:xfrm>
          <a:prstGeom prst="rect">
            <a:avLst/>
          </a:prstGeom>
          <a:solidFill>
            <a:srgbClr val="FFFFFF"/>
          </a:solidFill>
          <a:ln w="317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93408" y="2286000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780" b="0">
                <a:solidFill>
                  <a:srgbClr val="6B7280"/>
                </a:solidFill>
                <a:latin typeface="Arial"/>
              </a:rPr>
              <a:t>да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19288" y="2194560"/>
            <a:ext cx="1417320" cy="566928"/>
          </a:xfrm>
          <a:prstGeom prst="rect">
            <a:avLst/>
          </a:prstGeom>
          <a:solidFill>
            <a:srgbClr val="FFFFFF"/>
          </a:solidFill>
          <a:ln w="317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10728" y="2286000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780" b="0">
                <a:solidFill>
                  <a:srgbClr val="6B7280"/>
                </a:solidFill>
                <a:latin typeface="Arial"/>
              </a:rPr>
              <a:t>просмотр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2761488"/>
            <a:ext cx="1600200" cy="566928"/>
          </a:xfrm>
          <a:prstGeom prst="rect">
            <a:avLst/>
          </a:prstGeom>
          <a:solidFill>
            <a:srgbClr val="F9FAFB"/>
          </a:solidFill>
          <a:ln w="317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8368" y="2852928"/>
            <a:ext cx="14173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780" b="1">
                <a:solidFill>
                  <a:srgbClr val="111827"/>
                </a:solidFill>
                <a:latin typeface="Arial"/>
              </a:rPr>
              <a:t>Завуч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67128" y="2761488"/>
            <a:ext cx="1417320" cy="566928"/>
          </a:xfrm>
          <a:prstGeom prst="rect">
            <a:avLst/>
          </a:prstGeom>
          <a:solidFill>
            <a:srgbClr val="F9FAFB"/>
          </a:solidFill>
          <a:ln w="317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258568" y="2852928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780" b="0">
                <a:solidFill>
                  <a:srgbClr val="6B7280"/>
                </a:solidFill>
                <a:latin typeface="Arial"/>
              </a:rPr>
              <a:t>параллели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84448" y="2761488"/>
            <a:ext cx="1508760" cy="566928"/>
          </a:xfrm>
          <a:prstGeom prst="rect">
            <a:avLst/>
          </a:prstGeom>
          <a:solidFill>
            <a:srgbClr val="F9FAFB"/>
          </a:solidFill>
          <a:ln w="317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675887" y="2852928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780" b="0">
                <a:solidFill>
                  <a:srgbClr val="6B7280"/>
                </a:solidFill>
                <a:latin typeface="Arial"/>
              </a:rPr>
              <a:t>все классы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93208" y="2761488"/>
            <a:ext cx="1508760" cy="566928"/>
          </a:xfrm>
          <a:prstGeom prst="rect">
            <a:avLst/>
          </a:prstGeom>
          <a:solidFill>
            <a:srgbClr val="F9FAFB"/>
          </a:solidFill>
          <a:ln w="317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184648" y="2852928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780" b="0">
                <a:solidFill>
                  <a:srgbClr val="6B7280"/>
                </a:solidFill>
                <a:latin typeface="Arial"/>
              </a:rPr>
              <a:t>да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01968" y="2761488"/>
            <a:ext cx="1417320" cy="566928"/>
          </a:xfrm>
          <a:prstGeom prst="rect">
            <a:avLst/>
          </a:prstGeom>
          <a:solidFill>
            <a:srgbClr val="F9FAFB"/>
          </a:solidFill>
          <a:ln w="317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693408" y="2852928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780" b="0">
                <a:solidFill>
                  <a:srgbClr val="6B7280"/>
                </a:solidFill>
                <a:latin typeface="Arial"/>
              </a:rPr>
              <a:t>да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19288" y="2761488"/>
            <a:ext cx="1417320" cy="566928"/>
          </a:xfrm>
          <a:prstGeom prst="rect">
            <a:avLst/>
          </a:prstGeom>
          <a:solidFill>
            <a:srgbClr val="F9FAFB"/>
          </a:solidFill>
          <a:ln w="317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110728" y="2852928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780" b="0">
                <a:solidFill>
                  <a:srgbClr val="6B7280"/>
                </a:solidFill>
                <a:latin typeface="Arial"/>
              </a:rPr>
              <a:t>нет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8" y="3328415"/>
            <a:ext cx="1600200" cy="566928"/>
          </a:xfrm>
          <a:prstGeom prst="rect">
            <a:avLst/>
          </a:prstGeom>
          <a:solidFill>
            <a:srgbClr val="FFFFFF"/>
          </a:solidFill>
          <a:ln w="317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58368" y="3419856"/>
            <a:ext cx="14173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780" b="1">
                <a:solidFill>
                  <a:srgbClr val="111827"/>
                </a:solidFill>
                <a:latin typeface="Arial"/>
              </a:rPr>
              <a:t>Учитель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67128" y="3328415"/>
            <a:ext cx="1417320" cy="566928"/>
          </a:xfrm>
          <a:prstGeom prst="rect">
            <a:avLst/>
          </a:prstGeom>
          <a:solidFill>
            <a:srgbClr val="FFFFFF"/>
          </a:solidFill>
          <a:ln w="317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258568" y="3419856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780" b="0">
                <a:solidFill>
                  <a:srgbClr val="6B7280"/>
                </a:solidFill>
                <a:latin typeface="Arial"/>
              </a:rPr>
              <a:t>нет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584448" y="3328415"/>
            <a:ext cx="1508760" cy="566928"/>
          </a:xfrm>
          <a:prstGeom prst="rect">
            <a:avLst/>
          </a:prstGeom>
          <a:solidFill>
            <a:srgbClr val="FFFFFF"/>
          </a:solidFill>
          <a:ln w="317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675887" y="3419856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780" b="0">
                <a:solidFill>
                  <a:srgbClr val="6B7280"/>
                </a:solidFill>
                <a:latin typeface="Arial"/>
              </a:rPr>
              <a:t>свои классы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93208" y="3328415"/>
            <a:ext cx="1508760" cy="566928"/>
          </a:xfrm>
          <a:prstGeom prst="rect">
            <a:avLst/>
          </a:prstGeom>
          <a:solidFill>
            <a:srgbClr val="FFFFFF"/>
          </a:solidFill>
          <a:ln w="317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184648" y="3419856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780" b="0">
                <a:solidFill>
                  <a:srgbClr val="6B7280"/>
                </a:solidFill>
                <a:latin typeface="Arial"/>
              </a:rPr>
              <a:t>свои ученики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601968" y="3328415"/>
            <a:ext cx="1417320" cy="566928"/>
          </a:xfrm>
          <a:prstGeom prst="rect">
            <a:avLst/>
          </a:prstGeom>
          <a:solidFill>
            <a:srgbClr val="FFFFFF"/>
          </a:solidFill>
          <a:ln w="317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693408" y="3419856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780" b="0">
                <a:solidFill>
                  <a:srgbClr val="6B7280"/>
                </a:solidFill>
                <a:latin typeface="Arial"/>
              </a:rPr>
              <a:t>частично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019288" y="3328415"/>
            <a:ext cx="1417320" cy="566928"/>
          </a:xfrm>
          <a:prstGeom prst="rect">
            <a:avLst/>
          </a:prstGeom>
          <a:solidFill>
            <a:srgbClr val="FFFFFF"/>
          </a:solidFill>
          <a:ln w="317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110728" y="3419856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780" b="0">
                <a:solidFill>
                  <a:srgbClr val="6B7280"/>
                </a:solidFill>
                <a:latin typeface="Arial"/>
              </a:rPr>
              <a:t>нет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66928" y="3895344"/>
            <a:ext cx="1600200" cy="566928"/>
          </a:xfrm>
          <a:prstGeom prst="rect">
            <a:avLst/>
          </a:prstGeom>
          <a:solidFill>
            <a:srgbClr val="F9FAFB"/>
          </a:solidFill>
          <a:ln w="317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58368" y="3986783"/>
            <a:ext cx="14173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780" b="1">
                <a:solidFill>
                  <a:srgbClr val="111827"/>
                </a:solidFill>
                <a:latin typeface="Arial"/>
              </a:rPr>
              <a:t>Аналитик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167128" y="3895344"/>
            <a:ext cx="1417320" cy="566928"/>
          </a:xfrm>
          <a:prstGeom prst="rect">
            <a:avLst/>
          </a:prstGeom>
          <a:solidFill>
            <a:srgbClr val="F9FAFB"/>
          </a:solidFill>
          <a:ln w="317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258568" y="3986783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780" b="0">
                <a:solidFill>
                  <a:srgbClr val="6B7280"/>
                </a:solidFill>
                <a:latin typeface="Arial"/>
              </a:rPr>
              <a:t>школа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584448" y="3895344"/>
            <a:ext cx="1508760" cy="566928"/>
          </a:xfrm>
          <a:prstGeom prst="rect">
            <a:avLst/>
          </a:prstGeom>
          <a:solidFill>
            <a:srgbClr val="F9FAFB"/>
          </a:solidFill>
          <a:ln w="317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675887" y="3986783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780" b="0">
                <a:solidFill>
                  <a:srgbClr val="6B7280"/>
                </a:solidFill>
                <a:latin typeface="Arial"/>
              </a:rPr>
              <a:t>все классы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093208" y="3895344"/>
            <a:ext cx="1508760" cy="566928"/>
          </a:xfrm>
          <a:prstGeom prst="rect">
            <a:avLst/>
          </a:prstGeom>
          <a:solidFill>
            <a:srgbClr val="F9FAFB"/>
          </a:solidFill>
          <a:ln w="317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184648" y="3986783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780" b="0">
                <a:solidFill>
                  <a:srgbClr val="6B7280"/>
                </a:solidFill>
                <a:latin typeface="Arial"/>
              </a:rPr>
              <a:t>да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601968" y="3895344"/>
            <a:ext cx="1417320" cy="566928"/>
          </a:xfrm>
          <a:prstGeom prst="rect">
            <a:avLst/>
          </a:prstGeom>
          <a:solidFill>
            <a:srgbClr val="F9FAFB"/>
          </a:solidFill>
          <a:ln w="317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693408" y="3986783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780" b="0">
                <a:solidFill>
                  <a:srgbClr val="6B7280"/>
                </a:solidFill>
                <a:latin typeface="Arial"/>
              </a:rPr>
              <a:t>да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019288" y="3895344"/>
            <a:ext cx="1417320" cy="566928"/>
          </a:xfrm>
          <a:prstGeom prst="rect">
            <a:avLst/>
          </a:prstGeom>
          <a:solidFill>
            <a:srgbClr val="F9FAFB"/>
          </a:solidFill>
          <a:ln w="317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110728" y="3986783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780" b="0">
                <a:solidFill>
                  <a:srgbClr val="6B7280"/>
                </a:solidFill>
                <a:latin typeface="Arial"/>
              </a:rPr>
              <a:t>нет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66928" y="4462272"/>
            <a:ext cx="1600200" cy="566928"/>
          </a:xfrm>
          <a:prstGeom prst="rect">
            <a:avLst/>
          </a:prstGeom>
          <a:solidFill>
            <a:srgbClr val="FFFFFF"/>
          </a:solidFill>
          <a:ln w="317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58368" y="4553712"/>
            <a:ext cx="14173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780" b="1">
                <a:solidFill>
                  <a:srgbClr val="111827"/>
                </a:solidFill>
                <a:latin typeface="Arial"/>
              </a:rPr>
              <a:t>Ученик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167128" y="4462272"/>
            <a:ext cx="1417320" cy="566928"/>
          </a:xfrm>
          <a:prstGeom prst="rect">
            <a:avLst/>
          </a:prstGeom>
          <a:solidFill>
            <a:srgbClr val="FFFFFF"/>
          </a:solidFill>
          <a:ln w="317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2258568" y="4553712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780" b="0">
                <a:solidFill>
                  <a:srgbClr val="6B7280"/>
                </a:solidFill>
                <a:latin typeface="Arial"/>
              </a:rPr>
              <a:t>нет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584448" y="4462272"/>
            <a:ext cx="1508760" cy="566928"/>
          </a:xfrm>
          <a:prstGeom prst="rect">
            <a:avLst/>
          </a:prstGeom>
          <a:solidFill>
            <a:srgbClr val="FFFFFF"/>
          </a:solidFill>
          <a:ln w="317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3675887" y="4553712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780" b="0">
                <a:solidFill>
                  <a:srgbClr val="6B7280"/>
                </a:solidFill>
                <a:latin typeface="Arial"/>
              </a:rPr>
              <a:t>нет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093208" y="4462272"/>
            <a:ext cx="1508760" cy="566928"/>
          </a:xfrm>
          <a:prstGeom prst="rect">
            <a:avLst/>
          </a:prstGeom>
          <a:solidFill>
            <a:srgbClr val="FFFFFF"/>
          </a:solidFill>
          <a:ln w="317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184648" y="4553712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780" b="0">
                <a:solidFill>
                  <a:srgbClr val="6B7280"/>
                </a:solidFill>
                <a:latin typeface="Arial"/>
              </a:rPr>
              <a:t>только лично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601968" y="4462272"/>
            <a:ext cx="1417320" cy="566928"/>
          </a:xfrm>
          <a:prstGeom prst="rect">
            <a:avLst/>
          </a:prstGeom>
          <a:solidFill>
            <a:srgbClr val="FFFFFF"/>
          </a:solidFill>
          <a:ln w="317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693408" y="4553712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780" b="0">
                <a:solidFill>
                  <a:srgbClr val="6B7280"/>
                </a:solidFill>
                <a:latin typeface="Arial"/>
              </a:rPr>
              <a:t>нет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019288" y="4462272"/>
            <a:ext cx="1417320" cy="566928"/>
          </a:xfrm>
          <a:prstGeom prst="rect">
            <a:avLst/>
          </a:prstGeom>
          <a:solidFill>
            <a:srgbClr val="FFFFFF"/>
          </a:solidFill>
          <a:ln w="317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110728" y="4553712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780" b="0">
                <a:solidFill>
                  <a:srgbClr val="6B7280"/>
                </a:solidFill>
                <a:latin typeface="Arial"/>
              </a:rPr>
              <a:t>нет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66928" y="5029200"/>
            <a:ext cx="1600200" cy="566928"/>
          </a:xfrm>
          <a:prstGeom prst="rect">
            <a:avLst/>
          </a:prstGeom>
          <a:solidFill>
            <a:srgbClr val="F9FAFB"/>
          </a:solidFill>
          <a:ln w="317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58368" y="5120640"/>
            <a:ext cx="14173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780" b="1">
                <a:solidFill>
                  <a:srgbClr val="111827"/>
                </a:solidFill>
                <a:latin typeface="Arial"/>
              </a:rPr>
              <a:t>Администратор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167128" y="5029200"/>
            <a:ext cx="1417320" cy="566928"/>
          </a:xfrm>
          <a:prstGeom prst="rect">
            <a:avLst/>
          </a:prstGeom>
          <a:solidFill>
            <a:srgbClr val="F9FAFB"/>
          </a:solidFill>
          <a:ln w="317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2258568" y="5120640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780" b="0">
                <a:solidFill>
                  <a:srgbClr val="6B7280"/>
                </a:solidFill>
                <a:latin typeface="Arial"/>
              </a:rPr>
              <a:t>нет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584448" y="5029200"/>
            <a:ext cx="1508760" cy="566928"/>
          </a:xfrm>
          <a:prstGeom prst="rect">
            <a:avLst/>
          </a:prstGeom>
          <a:solidFill>
            <a:srgbClr val="F9FAFB"/>
          </a:solidFill>
          <a:ln w="317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3675887" y="5120640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780" b="0">
                <a:solidFill>
                  <a:srgbClr val="6B7280"/>
                </a:solidFill>
                <a:latin typeface="Arial"/>
              </a:rPr>
              <a:t>нет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093208" y="5029200"/>
            <a:ext cx="1508760" cy="566928"/>
          </a:xfrm>
          <a:prstGeom prst="rect">
            <a:avLst/>
          </a:prstGeom>
          <a:solidFill>
            <a:srgbClr val="F9FAFB"/>
          </a:solidFill>
          <a:ln w="317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184648" y="5120640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780" b="0">
                <a:solidFill>
                  <a:srgbClr val="6B7280"/>
                </a:solidFill>
                <a:latin typeface="Arial"/>
              </a:rPr>
              <a:t>нет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601968" y="5029200"/>
            <a:ext cx="1417320" cy="566928"/>
          </a:xfrm>
          <a:prstGeom prst="rect">
            <a:avLst/>
          </a:prstGeom>
          <a:solidFill>
            <a:srgbClr val="F9FAFB"/>
          </a:solidFill>
          <a:ln w="317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6693408" y="5120640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780" b="0">
                <a:solidFill>
                  <a:srgbClr val="6B7280"/>
                </a:solidFill>
                <a:latin typeface="Arial"/>
              </a:rPr>
              <a:t>нет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019288" y="5029200"/>
            <a:ext cx="1417320" cy="566928"/>
          </a:xfrm>
          <a:prstGeom prst="rect">
            <a:avLst/>
          </a:prstGeom>
          <a:solidFill>
            <a:srgbClr val="F9FAFB"/>
          </a:solidFill>
          <a:ln w="317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8110728" y="5120640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780" b="0">
                <a:solidFill>
                  <a:srgbClr val="6B7280"/>
                </a:solidFill>
                <a:latin typeface="Arial"/>
              </a:rPr>
              <a:t>полный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58368" y="5559552"/>
            <a:ext cx="9875520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sz="1050" b="0">
                <a:solidFill>
                  <a:srgbClr val="6B7280"/>
                </a:solidFill>
                <a:latin typeface="Arial"/>
              </a:rPr>
              <a:t>Директор и завуч стоят в начале, потому что именно они являются основными управленческими пользователями продукта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66928" y="644652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Arial"/>
              </a:rPr>
              <a:t>Appendix • IBS — School Analytics Dashboard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00" b="1">
                <a:solidFill>
                  <a:srgbClr val="2F80ED"/>
                </a:solidFill>
                <a:latin typeface="Arial"/>
              </a:rPr>
              <a:t>APPENDIX 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85800"/>
            <a:ext cx="6766560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2500" b="1">
                <a:solidFill>
                  <a:srgbClr val="073763"/>
                </a:solidFill>
                <a:latin typeface="Arial"/>
              </a:rPr>
              <a:t>План пилотирования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1904" y="47548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sz="800" b="0">
                <a:solidFill>
                  <a:srgbClr val="6B7280"/>
                </a:solidFill>
                <a:latin typeface="Arial"/>
              </a:rPr>
              <a:t>A7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75320" y="475488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sz="800" b="0">
                <a:solidFill>
                  <a:srgbClr val="6B7280"/>
                </a:solidFill>
                <a:latin typeface="Arial"/>
              </a:rPr>
              <a:t>IBS — School Analytics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71016"/>
            <a:ext cx="10927080" cy="9144"/>
          </a:xfrm>
          <a:prstGeom prst="rect">
            <a:avLst/>
          </a:prstGeom>
          <a:solidFill>
            <a:srgbClr val="D2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475488" cy="475488"/>
          </a:xfrm>
          <a:prstGeom prst="round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1700784"/>
            <a:ext cx="475488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31720"/>
            <a:ext cx="2240280" cy="1874519"/>
          </a:xfrm>
          <a:prstGeom prst="roundRect">
            <a:avLst/>
          </a:prstGeom>
          <a:solidFill>
            <a:srgbClr val="F3F5F7"/>
          </a:solidFill>
          <a:ln w="952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2468879"/>
            <a:ext cx="1911096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200" b="1">
                <a:solidFill>
                  <a:srgbClr val="073763"/>
                </a:solidFill>
                <a:latin typeface="Arial"/>
              </a:rPr>
              <a:t>Подготовка данных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834639"/>
            <a:ext cx="1911096" cy="1280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rial"/>
              </a:rPr>
              <a:t>согласование источников
словарь показателей
проверка качества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898648" y="2953512"/>
            <a:ext cx="347472" cy="201168"/>
          </a:xfrm>
          <a:prstGeom prst="rightArrow">
            <a:avLst/>
          </a:prstGeom>
          <a:solidFill>
            <a:srgbClr val="D2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355848" y="1691640"/>
            <a:ext cx="475488" cy="475488"/>
          </a:xfrm>
          <a:prstGeom prst="round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55848" y="1700784"/>
            <a:ext cx="475488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55848" y="2331720"/>
            <a:ext cx="2240280" cy="187451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20440" y="2468879"/>
            <a:ext cx="1911096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200" b="1">
                <a:solidFill>
                  <a:srgbClr val="073763"/>
                </a:solidFill>
                <a:latin typeface="Arial"/>
              </a:rPr>
              <a:t>Техническая основа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834639"/>
            <a:ext cx="1911096" cy="1280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rial"/>
              </a:rPr>
              <a:t>единая база данных
история изменений
настройка весов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596128" y="2953512"/>
            <a:ext cx="347472" cy="201168"/>
          </a:xfrm>
          <a:prstGeom prst="rightArrow">
            <a:avLst/>
          </a:prstGeom>
          <a:solidFill>
            <a:srgbClr val="D2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053328" y="1691640"/>
            <a:ext cx="475488" cy="475488"/>
          </a:xfrm>
          <a:prstGeom prst="round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3328" y="1700784"/>
            <a:ext cx="475488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2331720"/>
            <a:ext cx="2240280" cy="1874519"/>
          </a:xfrm>
          <a:prstGeom prst="roundRect">
            <a:avLst/>
          </a:prstGeom>
          <a:solidFill>
            <a:srgbClr val="F3F5F7"/>
          </a:solidFill>
          <a:ln w="952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17920" y="2468879"/>
            <a:ext cx="1911096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200" b="1">
                <a:solidFill>
                  <a:srgbClr val="073763"/>
                </a:solidFill>
                <a:latin typeface="Arial"/>
              </a:rPr>
              <a:t>Проверка методики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834639"/>
            <a:ext cx="1911096" cy="1280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rial"/>
              </a:rPr>
              <a:t>валидация риска
сравнение с экспертной оценкой
корректировка порогов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293608" y="2953512"/>
            <a:ext cx="347472" cy="201168"/>
          </a:xfrm>
          <a:prstGeom prst="rightArrow">
            <a:avLst/>
          </a:prstGeom>
          <a:solidFill>
            <a:srgbClr val="D2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750808" y="1691640"/>
            <a:ext cx="475488" cy="475488"/>
          </a:xfrm>
          <a:prstGeom prst="roundRect">
            <a:avLst/>
          </a:prstGeom>
          <a:solidFill>
            <a:srgbClr val="073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750808" y="1700784"/>
            <a:ext cx="475488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50808" y="2331720"/>
            <a:ext cx="2240280" cy="187451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15400" y="2468879"/>
            <a:ext cx="1911096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200" b="1">
                <a:solidFill>
                  <a:srgbClr val="073763"/>
                </a:solidFill>
                <a:latin typeface="Arial"/>
              </a:rPr>
              <a:t>Пилот в школе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2834639"/>
            <a:ext cx="1911096" cy="1280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rial"/>
              </a:rPr>
              <a:t>регламент использования
обратная связь пользователей
решение о масштабировании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80060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300" b="1">
                <a:solidFill>
                  <a:srgbClr val="073763"/>
                </a:solidFill>
                <a:latin typeface="Arial"/>
              </a:rPr>
              <a:t>Критерии готовности к следующему этапу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257800"/>
            <a:ext cx="4434840" cy="310896"/>
          </a:xfrm>
          <a:prstGeom prst="round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8368" y="5266944"/>
            <a:ext cx="4434840" cy="2926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850" b="0">
                <a:solidFill>
                  <a:srgbClr val="073763"/>
                </a:solidFill>
                <a:latin typeface="Arial"/>
              </a:rPr>
              <a:t>данные загружаются стабильно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550407" y="5257800"/>
            <a:ext cx="4434840" cy="310896"/>
          </a:xfrm>
          <a:prstGeom prst="round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550407" y="5266944"/>
            <a:ext cx="4434840" cy="2926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850" b="0">
                <a:solidFill>
                  <a:srgbClr val="073763"/>
                </a:solidFill>
                <a:latin typeface="Arial"/>
              </a:rPr>
              <a:t>рейтинг объясним для администрации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715000"/>
            <a:ext cx="4434840" cy="310896"/>
          </a:xfrm>
          <a:prstGeom prst="round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8368" y="5724144"/>
            <a:ext cx="4434840" cy="2926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850" b="0">
                <a:solidFill>
                  <a:srgbClr val="073763"/>
                </a:solidFill>
                <a:latin typeface="Arial"/>
              </a:rPr>
              <a:t>риск-сигналы совпадают с экспертной проверкой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550407" y="5715000"/>
            <a:ext cx="4434840" cy="310896"/>
          </a:xfrm>
          <a:prstGeom prst="roundRect">
            <a:avLst/>
          </a:prstGeom>
          <a:solidFill>
            <a:srgbClr val="F3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550407" y="5724144"/>
            <a:ext cx="4434840" cy="2926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850" b="0">
                <a:solidFill>
                  <a:srgbClr val="073763"/>
                </a:solidFill>
                <a:latin typeface="Arial"/>
              </a:rPr>
              <a:t>пользователи понимают сценарии работы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644652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Arial"/>
              </a:rPr>
              <a:t>Appendix • IBS — School Analytics Dashboard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1717</Words>
  <Application>Microsoft Office PowerPoint</Application>
  <PresentationFormat>Широкоэкранный</PresentationFormat>
  <Paragraphs>540</Paragraphs>
  <Slides>25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27" baseType="lpstr"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IBS Dashboard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Школьный аналитический дашборд IBS — Board Deck</dc:title>
  <dc:subject>Школьный аналитический дашборд IBS</dc:subject>
  <dc:creator>OpenAI</dc:creator>
  <cp:lastModifiedBy>Lytkin Vladislav</cp:lastModifiedBy>
  <cp:revision>2</cp:revision>
  <dcterms:created xsi:type="dcterms:W3CDTF">2026-06-17T09:24:55Z</dcterms:created>
  <dcterms:modified xsi:type="dcterms:W3CDTF">2026-06-17T19:48:07Z</dcterms:modified>
</cp:coreProperties>
</file>